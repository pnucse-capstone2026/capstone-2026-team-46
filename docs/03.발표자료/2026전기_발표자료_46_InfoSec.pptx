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6" r:id="rId1"/>
  </p:sldMasterIdLst>
  <p:notesMasterIdLst>
    <p:notesMasterId r:id="rId58"/>
  </p:notesMasterIdLst>
  <p:handoutMasterIdLst>
    <p:handoutMasterId r:id="rId59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x="9144000" cy="6858000" type="screen4x3"/>
  <p:notesSz cx="7104063" cy="10234613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CC12B1-C716-824C-96C3-303B655A4DA8}">
          <p14:sldIdLst>
            <p14:sldId id="539"/>
            <p14:sldId id="720"/>
          </p14:sldIdLst>
        </p14:section>
        <p14:section name="1장. ㅇㅇ" id="{4A549092-5411-1A49-8574-4420586FF6FA}">
          <p14:sldIdLst>
            <p14:sldId id="541"/>
            <p14:sldId id="742"/>
            <p14:sldId id="743"/>
            <p14:sldId id="813"/>
            <p14:sldId id="821"/>
            <p14:sldId id="256"/>
            <p14:sldId id="257"/>
            <p14:sldId id="258"/>
            <p14:sldId id="259"/>
            <p14:sldId id="260"/>
            <p14:sldId id="814"/>
            <p14:sldId id="815"/>
            <p14:sldId id="816"/>
            <p14:sldId id="817"/>
            <p14:sldId id="818"/>
            <p14:sldId id="819"/>
            <p14:sldId id="820"/>
            <p14:sldId id="745"/>
            <p14:sldId id="805"/>
            <p14:sldId id="746"/>
            <p14:sldId id="807"/>
            <p14:sldId id="747"/>
            <p14:sldId id="808"/>
            <p14:sldId id="756"/>
            <p14:sldId id="749"/>
            <p14:sldId id="809"/>
            <p14:sldId id="753"/>
            <p14:sldId id="810"/>
            <p14:sldId id="754"/>
            <p14:sldId id="811"/>
            <p14:sldId id="755"/>
            <p14:sldId id="812"/>
            <p14:sldId id="752"/>
            <p14:sldId id="799"/>
            <p14:sldId id="758"/>
            <p14:sldId id="759"/>
            <p14:sldId id="760"/>
            <p14:sldId id="761"/>
            <p14:sldId id="762"/>
            <p14:sldId id="800"/>
            <p14:sldId id="804"/>
            <p14:sldId id="790"/>
            <p14:sldId id="797"/>
            <p14:sldId id="798"/>
            <p14:sldId id="773"/>
            <p14:sldId id="791"/>
            <p14:sldId id="774"/>
            <p14:sldId id="792"/>
            <p14:sldId id="793"/>
            <p14:sldId id="794"/>
            <p14:sldId id="795"/>
            <p14:sldId id="272"/>
            <p14:sldId id="803"/>
          </p14:sldIdLst>
        </p14:section>
        <p14:section name="QnA" id="{7E9535E3-39A6-3A45-A276-64398C8AFA5A}">
          <p14:sldIdLst>
            <p14:sldId id="269"/>
          </p14:sldIdLst>
        </p14:section>
        <p14:section name="부록" id="{2547D78A-6C6A-9A4E-A3C4-A1B62426F84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976" userDrawn="1">
          <p15:clr>
            <a:srgbClr val="A4A3A4"/>
          </p15:clr>
        </p15:guide>
        <p15:guide id="2" pos="2859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찬희" initials="박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D91"/>
    <a:srgbClr val="0432FF"/>
    <a:srgbClr val="FD5B3A"/>
    <a:srgbClr val="FCFF99"/>
    <a:srgbClr val="002060"/>
    <a:srgbClr val="222222"/>
    <a:srgbClr val="FF40FF"/>
    <a:srgbClr val="E0F1FB"/>
    <a:srgbClr val="F4C005"/>
    <a:srgbClr val="284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C96DD-86DD-423A-88EE-453243A6E267}" v="20" dt="2026-05-11T04:17:12.572"/>
    <p1510:client id="{77A99E47-170D-4870-AB94-C91CBA38F94F}" v="2" dt="2026-05-11T04:15:05.5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9" autoAdjust="0"/>
    <p:restoredTop sz="81364" autoAdjust="0"/>
  </p:normalViewPr>
  <p:slideViewPr>
    <p:cSldViewPr snapToGrid="0" snapToObjects="1" showGuides="1">
      <p:cViewPr>
        <p:scale>
          <a:sx n="100" d="100"/>
          <a:sy n="100" d="100"/>
        </p:scale>
        <p:origin x="3368" y="668"/>
      </p:cViewPr>
      <p:guideLst>
        <p:guide orient="horz" pos="2976"/>
        <p:guide pos="285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2834" y="5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commentAuthors" Target="commentAuthors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6/11/relationships/changesInfo" Target="changesInfos/changesInfo1.xml"/><Relationship Id="rId6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흐엉 (Huong)" userId="S::huong@islab.re.kr::ba69f49c-bd5e-4247-a3f0-9a77b8bc5d46" providerId="AD" clId="Web-{77A99E47-170D-4870-AB94-C91CBA38F94F}"/>
    <pc:docChg chg="modSld">
      <pc:chgData name="흐엉 (Huong)" userId="S::huong@islab.re.kr::ba69f49c-bd5e-4247-a3f0-9a77b8bc5d46" providerId="AD" clId="Web-{77A99E47-170D-4870-AB94-C91CBA38F94F}" dt="2026-05-11T04:15:05.555" v="1" actId="1076"/>
      <pc:docMkLst>
        <pc:docMk/>
      </pc:docMkLst>
      <pc:sldChg chg="modSp">
        <pc:chgData name="흐엉 (Huong)" userId="S::huong@islab.re.kr::ba69f49c-bd5e-4247-a3f0-9a77b8bc5d46" providerId="AD" clId="Web-{77A99E47-170D-4870-AB94-C91CBA38F94F}" dt="2026-05-11T04:15:05.555" v="1" actId="1076"/>
        <pc:sldMkLst>
          <pc:docMk/>
          <pc:sldMk cId="209207219" sldId="813"/>
        </pc:sldMkLst>
        <pc:spChg chg="mod">
          <ac:chgData name="흐엉 (Huong)" userId="S::huong@islab.re.kr::ba69f49c-bd5e-4247-a3f0-9a77b8bc5d46" providerId="AD" clId="Web-{77A99E47-170D-4870-AB94-C91CBA38F94F}" dt="2026-05-11T04:14:57.899" v="0" actId="14100"/>
          <ac:spMkLst>
            <pc:docMk/>
            <pc:sldMk cId="209207219" sldId="813"/>
            <ac:spMk id="16" creationId="{00000000-0000-0000-0000-000000000000}"/>
          </ac:spMkLst>
        </pc:spChg>
        <pc:spChg chg="mod">
          <ac:chgData name="흐엉 (Huong)" userId="S::huong@islab.re.kr::ba69f49c-bd5e-4247-a3f0-9a77b8bc5d46" providerId="AD" clId="Web-{77A99E47-170D-4870-AB94-C91CBA38F94F}" dt="2026-05-11T04:15:05.555" v="1" actId="1076"/>
          <ac:spMkLst>
            <pc:docMk/>
            <pc:sldMk cId="209207219" sldId="813"/>
            <ac:spMk id="18" creationId="{00000000-0000-0000-0000-000000000000}"/>
          </ac:spMkLst>
        </pc:spChg>
      </pc:sldChg>
    </pc:docChg>
  </pc:docChgLst>
  <pc:docChgLst>
    <pc:chgData name="흐엉 (Huong)" userId="S::huong@islab.re.kr::ba69f49c-bd5e-4247-a3f0-9a77b8bc5d46" providerId="AD" clId="Web-{63CC96DD-86DD-423A-88EE-453243A6E267}"/>
    <pc:docChg chg="modSld">
      <pc:chgData name="흐엉 (Huong)" userId="S::huong@islab.re.kr::ba69f49c-bd5e-4247-a3f0-9a77b8bc5d46" providerId="AD" clId="Web-{63CC96DD-86DD-423A-88EE-453243A6E267}" dt="2026-05-11T04:17:12.572" v="21" actId="1076"/>
      <pc:docMkLst>
        <pc:docMk/>
      </pc:docMkLst>
      <pc:sldChg chg="modSp">
        <pc:chgData name="흐엉 (Huong)" userId="S::huong@islab.re.kr::ba69f49c-bd5e-4247-a3f0-9a77b8bc5d46" providerId="AD" clId="Web-{63CC96DD-86DD-423A-88EE-453243A6E267}" dt="2026-05-11T04:17:12.572" v="21" actId="1076"/>
        <pc:sldMkLst>
          <pc:docMk/>
          <pc:sldMk cId="4088709525" sldId="817"/>
        </pc:sldMkLst>
        <pc:spChg chg="mod">
          <ac:chgData name="흐엉 (Huong)" userId="S::huong@islab.re.kr::ba69f49c-bd5e-4247-a3f0-9a77b8bc5d46" providerId="AD" clId="Web-{63CC96DD-86DD-423A-88EE-453243A6E267}" dt="2026-05-11T04:17:12.572" v="21" actId="1076"/>
          <ac:spMkLst>
            <pc:docMk/>
            <pc:sldMk cId="4088709525" sldId="817"/>
            <ac:spMk id="14" creationId="{00000000-0000-0000-0000-000000000000}"/>
          </ac:spMkLst>
        </pc:spChg>
      </pc:sldChg>
      <pc:sldChg chg="addSp modSp">
        <pc:chgData name="흐엉 (Huong)" userId="S::huong@islab.re.kr::ba69f49c-bd5e-4247-a3f0-9a77b8bc5d46" providerId="AD" clId="Web-{63CC96DD-86DD-423A-88EE-453243A6E267}" dt="2026-05-11T04:16:39.383" v="15"/>
        <pc:sldMkLst>
          <pc:docMk/>
          <pc:sldMk cId="2349443567" sldId="818"/>
        </pc:sldMkLst>
        <pc:spChg chg="mod">
          <ac:chgData name="흐엉 (Huong)" userId="S::huong@islab.re.kr::ba69f49c-bd5e-4247-a3f0-9a77b8bc5d46" providerId="AD" clId="Web-{63CC96DD-86DD-423A-88EE-453243A6E267}" dt="2026-05-11T04:16:13.804" v="10" actId="1076"/>
          <ac:spMkLst>
            <pc:docMk/>
            <pc:sldMk cId="2349443567" sldId="818"/>
            <ac:spMk id="6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08.914" v="8" actId="1076"/>
          <ac:spMkLst>
            <pc:docMk/>
            <pc:sldMk cId="2349443567" sldId="818"/>
            <ac:spMk id="7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33.399" v="14" actId="1076"/>
          <ac:spMkLst>
            <pc:docMk/>
            <pc:sldMk cId="2349443567" sldId="818"/>
            <ac:spMk id="8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13.867" v="11" actId="1076"/>
          <ac:spMkLst>
            <pc:docMk/>
            <pc:sldMk cId="2349443567" sldId="818"/>
            <ac:spMk id="9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23.180" v="12" actId="20577"/>
          <ac:spMkLst>
            <pc:docMk/>
            <pc:sldMk cId="2349443567" sldId="818"/>
            <ac:spMk id="10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08.996" v="9" actId="1076"/>
          <ac:spMkLst>
            <pc:docMk/>
            <pc:sldMk cId="2349443567" sldId="818"/>
            <ac:spMk id="11" creationId="{00000000-0000-0000-0000-000000000000}"/>
          </ac:spMkLst>
        </pc:spChg>
        <pc:spChg chg="mod">
          <ac:chgData name="흐엉 (Huong)" userId="S::huong@islab.re.kr::ba69f49c-bd5e-4247-a3f0-9a77b8bc5d46" providerId="AD" clId="Web-{63CC96DD-86DD-423A-88EE-453243A6E267}" dt="2026-05-11T04:16:30.961" v="13" actId="1076"/>
          <ac:spMkLst>
            <pc:docMk/>
            <pc:sldMk cId="2349443567" sldId="818"/>
            <ac:spMk id="12" creationId="{00000000-0000-0000-0000-000000000000}"/>
          </ac:spMkLst>
        </pc:spChg>
        <pc:grpChg chg="add">
          <ac:chgData name="흐엉 (Huong)" userId="S::huong@islab.re.kr::ba69f49c-bd5e-4247-a3f0-9a77b8bc5d46" providerId="AD" clId="Web-{63CC96DD-86DD-423A-88EE-453243A6E267}" dt="2026-05-11T04:16:39.383" v="15"/>
          <ac:grpSpMkLst>
            <pc:docMk/>
            <pc:sldMk cId="2349443567" sldId="818"/>
            <ac:grpSpMk id="2" creationId="{22B5928F-929F-1DA1-E4FF-BEFF774B7BB6}"/>
          </ac:grpSpMkLst>
        </pc:gr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anchor="b"/>
          <a:lstStyle>
            <a:lvl1pPr algn="r">
              <a:defRPr sz="1200"/>
            </a:lvl1pPr>
          </a:lstStyle>
          <a:p>
            <a:pPr lvl="0">
              <a:defRPr/>
            </a:pPr>
            <a:fld id="{B7A863A3-0914-4A28-B03C-0D7346A80F7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/>
          <a:lstStyle>
            <a:lvl1pPr algn="r">
              <a:defRPr sz="1200"/>
            </a:lvl1pPr>
          </a:lstStyle>
          <a:p>
            <a:pPr lvl="0">
              <a:defRPr/>
            </a:pPr>
            <a:fld id="{FF896E0B-88BC-704E-A0AD-94C3DEB2AEFF}" type="datetime1">
              <a:rPr lang="en-US"/>
              <a:pPr lvl="0">
                <a:defRPr/>
              </a:pPr>
              <a:t>5/12/2026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871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/>
          <a:lstStyle>
            <a:lvl1pPr algn="r">
              <a:defRPr sz="1200"/>
            </a:lvl1pPr>
          </a:lstStyle>
          <a:p>
            <a:pPr lvl="0">
              <a:defRPr/>
            </a:pPr>
            <a:fld id="{340AE286-BB46-45F2-AC39-ECC3038E2C26}" type="datetime1">
              <a:rPr lang="ko-KR" altLang="en-US"/>
              <a:pPr lvl="0">
                <a:defRPr/>
              </a:pPr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anchor="b"/>
          <a:lstStyle>
            <a:lvl1pPr algn="r">
              <a:defRPr sz="1200"/>
            </a:lvl1pPr>
          </a:lstStyle>
          <a:p>
            <a:pPr lvl="0">
              <a:defRPr/>
            </a:pPr>
            <a:fld id="{14410C83-7C8E-4FEE-ACFA-FB414CAAC03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0962C9-317F-4E44-BB05-7AA31DADC1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172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[1장 · 합성 CAN 공격 데이터 증강의 신뢰성 검증 | 0:00–0:30 · 약 30초]</a:t>
            </a:r>
          </a:p>
          <a:p/>
          <a:p>
            <a:r>
              <a:t>안녕하세요. InfoSec 팀 장현진입니다.</a:t>
            </a:r>
          </a:p>
          <a:p/>
          <a:p>
            <a:r>
              <a:t>저는 합성 CAN 공격 데이터 증강의 신뢰성을 검증하는 단계적 평가 프레임워크, Shift Ladder를 설계하고 구현했습니다.</a:t>
            </a:r>
          </a:p>
          <a:p/>
          <a:p>
            <a:r>
              <a:t>침입탐지 모델에 합성 데이터를 더해 학습시키면 성능이 오릅니다. 그 성능이 왜 올랐는지, 어떤 조건까지 유지되는지를 확인하는 방법을 연구했습니다.</a:t>
            </a:r>
          </a:p>
          <a:p/>
          <a:p>
            <a:r>
              <a:t>▶ “…확인하는 방법을 연구했습니다.”까지 말한 뒤 2장으로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[2장 · 목차 | 0:30–0:40 · 약 10초]</a:t>
            </a:r>
          </a:p>
          <a:p/>
          <a:p>
            <a:r>
              <a:t>발표는 연구 배경, 제안 방법, 실험 결과, 원인 분석, 결론 순서로 진행하겠습니다.</a:t>
            </a:r>
          </a:p>
          <a:p/>
          <a:p>
            <a:r>
              <a:t>▶ “…결론 순서로 진행하겠습니다.”까지 말한 뒤 3장으로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[3장 · 1.1 CAN 통신과 침입탐지 | 0:40–1:30 · 약 50초]</a:t>
            </a:r>
          </a:p>
          <a:p/>
          <a:p>
            <a:r>
              <a:t>(화면: 왼쪽 CAN 버스 그림)</a:t>
            </a:r>
          </a:p>
          <a:p>
            <a:r>
              <a:t>먼저 배경입니다. 자동차의 전자제어장치들은 CAN이라는 통신망으로 메시지를 주고받습니다.</a:t>
            </a:r>
          </a:p>
          <a:p/>
          <a:p>
            <a:r>
              <a:t>그런데 CAN에는 보낸 쪽을 인증하는 기능이 없습니다. 그림의 주황색 노드처럼, 통신망에 접근한 공격자는 정상처럼 보이는 메시지를 주입할 수 있습니다.</a:t>
            </a:r>
          </a:p>
          <a:p/>
          <a:p>
            <a:r>
              <a:t>침입탐지 모델은 메시지의 식별자와 데이터 값, 전송 간격을 학습해서 정상 통신과 공격을 구분합니다. 이 과제에서는 연속된 메시지 128개를 하나의 입력으로 사용했습니다.</a:t>
            </a:r>
          </a:p>
          <a:p/>
          <a:p>
            <a:r>
              <a:t>(화면: 오른쪽 공격 유형)</a:t>
            </a:r>
          </a:p>
          <a:p>
            <a:r>
              <a:t>대상은 Car-Hacking 데이터셋의 네 가지 공격입니다.</a:t>
            </a:r>
          </a:p>
          <a:p/>
          <a:p>
            <a:r>
              <a:t>(화면: 아래 남색 띠)</a:t>
            </a:r>
          </a:p>
          <a:p>
            <a:r>
              <a:t>문제는 학습 자료입니다. 실제 차량에서 여러 공격 조건을 반복해서 수집하기는 어렵습니다.</a:t>
            </a:r>
          </a:p>
          <a:p/>
          <a:p>
            <a:r>
              <a:t>▶ “…반복해서 수집하기는 어렵습니다.”까지 말한 뒤 4장으로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[4장 · 1.2 합성 데이터 증강과 평가의 공백 | 1:30–2:20 · 약 50초]</a:t>
            </a:r>
          </a:p>
          <a:p/>
          <a:p>
            <a:r>
              <a:t>그래서 관측한 공격의 규칙으로 새 표본을 만들어 학습 자료에 더하는, 합성 데이터 증강을 사용합니다.</a:t>
            </a:r>
          </a:p>
          <a:p/>
          <a:p>
            <a:r>
              <a:t>(화면: 위쪽 흐름도)</a:t>
            </a:r>
          </a:p>
          <a:p>
            <a:r>
              <a:t>보통은 합성 공격을 더해 학습시키고, 시험 점수가 오르면 효과가 있다고 판단합니다. 하지만 점수만으로는 세 가지를 구분할 수 없습니다.</a:t>
            </a:r>
          </a:p>
          <a:p/>
          <a:p>
            <a:r>
              <a:t>(화면: 가운데 카드, 왼쪽부터 차례로)</a:t>
            </a:r>
          </a:p>
          <a:p>
            <a:r>
              <a:t>첫째, 더 많이 학습한 효과와 합성 표본의 내용이 만든 효과가 섞여 있습니다.</a:t>
            </a:r>
          </a:p>
          <a:p/>
          <a:p>
            <a:r>
              <a:t>둘째, 공격을 찾아내는 성능과 어떤 공격인지 맞히는 성능은 서로 다릅니다.</a:t>
            </a:r>
          </a:p>
          <a:p/>
          <a:p>
            <a:r>
              <a:t>셋째, 학습과 시험이 같은 생성 규칙을 공유하면, 규칙이나 차량이 바뀐 조건의 성능은 알 수 없습니다.</a:t>
            </a:r>
          </a:p>
          <a:p/>
          <a:p>
            <a:r>
              <a:t>(화면: 아래 남색 띠)</a:t>
            </a:r>
          </a:p>
          <a:p>
            <a:r>
              <a:t>이 과제의 목표는 합성 증강의 탐지 효과와, 그 효과가 유지되는 조건을 함께 평가하는 시스템을 만드는 것입니다.</a:t>
            </a:r>
          </a:p>
          <a:p/>
          <a:p>
            <a:r>
              <a:t>▶ “…시스템을 만드는 것입니다.”까지 말한 뒤 5장으로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[5장 · 2.1 Shift Ladder 평가 프레임워크 | 2:20–3:05 · 약 45초]</a:t>
            </a:r>
          </a:p>
          <a:p/>
          <a:p>
            <a:r>
              <a:t>제안하는 방법은 Shift Ladder입니다. 평가 조건을 학습 환경에서 한 단계씩 멀어지게 하면서 증강 효과를 측정합니다.</a:t>
            </a:r>
          </a:p>
          <a:p/>
          <a:p>
            <a:r>
              <a:t>(화면: 단계 도식, 위에서 아래로)</a:t>
            </a:r>
          </a:p>
          <a:p>
            <a:r>
              <a:t>L0는 학습 도메인의 시험 자료로 기본 성능을 확인합니다.</a:t>
            </a:r>
          </a:p>
          <a:p/>
          <a:p>
            <a:r>
              <a:t>L1과 L2는 학습 때와 같은 생성 규칙에서 나온 변형이고, L3와 L4는 그 규칙을 벗어납니다. 공격 대상 식별자를 옮기거나, 메시지 안에서 값이 놓이는 위치를 바꿉니다.</a:t>
            </a:r>
          </a:p>
          <a:p/>
          <a:p>
            <a:r>
              <a:t>L5는 다른 차량에서 수집한 외부 데이터, L6는 분포 차이의 영향을 살피는 진단 단계입니다.</a:t>
            </a:r>
          </a:p>
          <a:p/>
          <a:p>
            <a:r>
              <a:t>(화면: 아래 남색 띠)</a:t>
            </a:r>
          </a:p>
          <a:p>
            <a:r>
              <a:t>모든 단계에서 공격 탐지율, 유형 재현율, 정상 오탐률을 따로 측정합니다.</a:t>
            </a:r>
          </a:p>
          <a:p/>
          <a:p>
            <a:r>
              <a:t>▶ “…오탐률을 따로 측정합니다.”까지 말한 뒤 6장으로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[6장 · 2.2 비교군과 평가 지표 | 3:05–3:45 · 약 40초]</a:t>
            </a:r>
          </a:p>
          <a:p/>
          <a:p>
            <a:r>
              <a:t>(화면: 왼쪽 학습 자료의 구성)</a:t>
            </a:r>
          </a:p>
          <a:p>
            <a:r>
              <a:t>효과의 원인을 가려내기 위해 세 학습군을 비교했습니다. 실제 자료만 학습한 기준군, 실제 공격을 복제해 30퍼센트를 더한 학습군, 같은 수의 합성 공격을 더한 학습군입니다.</a:t>
            </a:r>
          </a:p>
          <a:p/>
          <a:p>
            <a:r>
              <a:t>모델 구조와 학습 갱신 횟수는 세 학습군이 모두 같습니다. 그래서 복제 학습군과 비교하면, 자료의 양이 아니라 합성 표본의 내용이 만든 차이를 볼 수 있습니다.</a:t>
            </a:r>
          </a:p>
          <a:p/>
          <a:p>
            <a:r>
              <a:t>(화면: 오른쪽 지표)</a:t>
            </a:r>
          </a:p>
          <a:p>
            <a:r>
              <a:t>지표는 공격 구간을 찾아낸 비율인 공격 탐지율, 공격 유형까지 맞힌 비율인 유형 재현율, 정상 구간을 공격으로 잘못 판단한 비율인 정상 오탐률입니다.</a:t>
            </a:r>
          </a:p>
          <a:p/>
          <a:p>
            <a:r>
              <a:t>▶ “…비율인 정상 오탐률입니다.”까지 말한 뒤 7장으로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[7장 · 2.3 시스템 구현 | 3:45–4:25 · 약 40초]</a:t>
            </a:r>
          </a:p>
          <a:p/>
          <a:p>
            <a:r>
              <a:t>이 절차를 여섯 개 모듈로 이루어진 평가 시스템으로 구현했습니다.</a:t>
            </a:r>
          </a:p>
          <a:p/>
          <a:p>
            <a:r>
              <a:t>(화면: 위쪽 데이터 상자 두 개)</a:t>
            </a:r>
          </a:p>
          <a:p>
            <a:r>
              <a:t>학습에는 Car-Hacking 데이터를 사용했고, 나머지 세 데이터셋은 학습에 쓰지 않고 외부 평가에만 사용합니다.</a:t>
            </a:r>
          </a:p>
          <a:p/>
          <a:p>
            <a:r>
              <a:t>(화면: 가운데 파이프라인)</a:t>
            </a:r>
          </a:p>
          <a:p>
            <a:r>
              <a:t>데이터 분리에서 재현성 관리까지 여섯 단계가 차례로 이어지고, 각 단계는 앞 단계의 산출물을 입력으로 받습니다.</a:t>
            </a:r>
          </a:p>
          <a:p/>
          <a:p>
            <a:r>
              <a:t>(화면: 아래 카드 세 장)</a:t>
            </a:r>
          </a:p>
          <a:p>
            <a:r>
              <a:t>주 탐지기는 1차원 합성곱 신경망이고, Random Forest를 비교 모델로 두었습니다. 반복 실험은 자동으로 실행되며, 저장된 결과에서 보고서의 수치를 다시 만들어 낼 수 있습니다.</a:t>
            </a:r>
          </a:p>
          <a:p/>
          <a:p>
            <a:r>
              <a:t>▶ “…낼 수 있습니다.”까지 말한 뒤 8장으로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[8장 · 3.1 동일 학습량에서의 증강 효과 | 4:25–5:10 · 약 45초]</a:t>
            </a:r>
          </a:p>
          <a:p/>
          <a:p>
            <a:r>
              <a:t>이제 실험 결과입니다. 먼저 학습량을 맞춘 비교입니다.</a:t>
            </a:r>
          </a:p>
          <a:p/>
          <a:p>
            <a:r>
              <a:t>(화면: 왼쪽 그래프)</a:t>
            </a:r>
          </a:p>
          <a:p>
            <a:r>
              <a:t>왼쪽은 고정된 공격 변형에 대한 결과입니다. 실제 자료만 학습했을 때 49.75퍼센트였던 공격 탐지율이, 합성 증강 후에는 99.99퍼센트가 되었습니다.</a:t>
            </a:r>
          </a:p>
          <a:p/>
          <a:p>
            <a:r>
              <a:t>가운데 막대, 실제 공격을 복제한 학습군은 기준군과 비슷한 수준에 머물렀습니다.</a:t>
            </a:r>
          </a:p>
          <a:p/>
          <a:p>
            <a:r>
              <a:t>(화면: 오른쪽 그래프)</a:t>
            </a:r>
          </a:p>
          <a:p>
            <a:r>
              <a:t>공격의 강도와 구조를 함께 바꾼 조건에서도 55.10퍼센트에서 72.00퍼센트로 올랐습니다.</a:t>
            </a:r>
          </a:p>
          <a:p/>
          <a:p>
            <a:r>
              <a:t>(화면: 아래 남색 띠)</a:t>
            </a:r>
          </a:p>
          <a:p>
            <a:r>
              <a:t>이 차이는 다섯 번의 학습 반복에서 모두 같은 방향이었고, 원시 메시지가 겹치지 않는 평가에서도 유지되었습니다. 합성 표본의 내용이 탐지 성능에 기여한 것입니다.</a:t>
            </a:r>
          </a:p>
          <a:p/>
          <a:p>
            <a:r>
              <a:t>▶ “…성능에 기여한 것입니다.”까지 말한 뒤 9장으로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[9장 · 3.2 평가 단계별 결과 | 5:10–6:00 · 약 50초]</a:t>
            </a:r>
          </a:p>
          <a:p/>
          <a:p>
            <a:r>
              <a:t>다음은 합성 증강 모델을 Shift Ladder의 단계별로 평가한 결과입니다.</a:t>
            </a:r>
          </a:p>
          <a:p/>
          <a:p>
            <a:r>
              <a:t>(화면: 그래프 왼쪽 L1)</a:t>
            </a:r>
          </a:p>
          <a:p>
            <a:r>
              <a:t>파란색은 공격 탐지율, 주황색은 유형 재현율입니다. 생성 규칙을 공유하는 L1에서는 두 지표가 모두 100퍼센트에 가깝습니다.</a:t>
            </a:r>
          </a:p>
          <a:p/>
          <a:p>
            <a:r>
              <a:t>(화면: 그래프 오른쪽 끝 L4, 오른쪽 위 카드)</a:t>
            </a:r>
          </a:p>
          <a:p>
            <a:r>
              <a:t>그런데 생성 규칙을 벗어난 L4에서는 공격 탐지율이 99.8퍼센트로 유지된 반면, 유형 재현율은 8.93퍼센트였습니다. 공격이라는 것은 알아내지만, 어떤 공격인지는 구분하지 못한 것입니다.</a:t>
            </a:r>
          </a:p>
          <a:p/>
          <a:p>
            <a:r>
              <a:t>(화면: 오른쪽 아래 카드)</a:t>
            </a:r>
          </a:p>
          <a:p>
            <a:r>
              <a:t>외부 차량 데이터에서는 탐지율과 함께 정상 오탐률도 100퍼센트에 가까웠습니다.</a:t>
            </a:r>
          </a:p>
          <a:p/>
          <a:p>
            <a:r>
              <a:t>(화면: 아래 남색 띠)</a:t>
            </a:r>
          </a:p>
          <a:p>
            <a:r>
              <a:t>세 지표를 나누어 단계별로 측정해야, 증강 효과가 어디까지 유지되는지 판단할 수 있습니다.</a:t>
            </a:r>
          </a:p>
          <a:p/>
          <a:p>
            <a:r>
              <a:t>▶ “…판단할 수 있습니다.”까지 말한 뒤 10장으로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[10장 · 4.1 생성 요인 교차 실험 | 6:00–6:35 · 약 35초]</a:t>
            </a:r>
          </a:p>
          <a:p/>
          <a:p>
            <a:r>
              <a:t>그렇다면 이런 성능 변화가 어떤 생성 요소에서 나오는지 분석했습니다.</a:t>
            </a:r>
          </a:p>
          <a:p/>
          <a:p>
            <a:r>
              <a:t>(화면: 오른쪽 카드)</a:t>
            </a:r>
          </a:p>
          <a:p>
            <a:r>
              <a:t>공격 값이 놓이는 위치, 주입 배치, 값의 변화 규칙, 이 세 요인을 교차해서 실험했습니다.</a:t>
            </a:r>
          </a:p>
          <a:p/>
          <a:p>
            <a:r>
              <a:t>(화면: 왼쪽 그래프 맨 위 막대)</a:t>
            </a:r>
          </a:p>
          <a:p>
            <a:r>
              <a:t>왼쪽 그래프는 유형 재현율에 대한 각 요인의 효과입니다. 값의 위치를 바꿨을 때의 효과가 마이너스 0.892로 가장 컸습니다. 모델이 값의 위치에 강하게 의존한다는 뜻입니다.</a:t>
            </a:r>
          </a:p>
          <a:p/>
          <a:p>
            <a:r>
              <a:t>(화면: 아래 남색 띠)</a:t>
            </a:r>
          </a:p>
          <a:p>
            <a:r>
              <a:t>다만 이것만으로는, 모델이 값들 사이의 관계를 학습했는지는 알 수 없습니다. 그래서 대조 실험을 설계했습니다.</a:t>
            </a:r>
          </a:p>
          <a:p/>
          <a:p>
            <a:r>
              <a:t>▶ “…대조 실험을 설계했습니다.”까지 말한 뒤 11장으로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[11장 · 4.2 맞춤 대조군 설계 | 6:35–7:25 · 약 50초]</a:t>
            </a:r>
          </a:p>
          <a:p/>
          <a:p>
            <a:r>
              <a:t>합성 공격에는 두 데이터 값이 함께 움직이는 관계가 들어 있습니다. 이 관계의 기여만 떼어 내기 위해 맞춤 대조군, Placebo를 만들었습니다.</a:t>
            </a:r>
          </a:p>
          <a:p/>
          <a:p>
            <a:r>
              <a:t>(화면: 왼쪽 도식)</a:t>
            </a:r>
          </a:p>
          <a:p>
            <a:r>
              <a:t>왼쪽 그림처럼 정상 배경과 주입 조건, 값의 분포는 그대로 두고, 두 값의 짝만 다시 배열했습니다. 달라진 것은 값 사이의 대응 관계뿐입니다.</a:t>
            </a:r>
          </a:p>
          <a:p/>
          <a:p>
            <a:r>
              <a:t>(화면: 오른쪽 위 모델 두 개)</a:t>
            </a:r>
          </a:p>
          <a:p>
            <a:r>
              <a:t>두 자료로 각각 모델을 학습시키고, 같은 조건에서 평가했습니다.</a:t>
            </a:r>
          </a:p>
          <a:p/>
          <a:p>
            <a:r>
              <a:t>(화면: 오른쪽 아래 L과 U)</a:t>
            </a:r>
          </a:p>
          <a:p>
            <a:r>
              <a:t>여기서 두 가지 양을 측정합니다. 관계 활용도 L은 관계를 바꿨을 때 성능이 달라지는 정도로, 모델이 관계에 얼마나 반응하는지를 나타냅니다.</a:t>
            </a:r>
          </a:p>
          <a:p/>
          <a:p>
            <a:r>
              <a:t>탐지 효용 U는 관계가 유지된 평가에서 두 모델의 정확도 차이로, 관계가 성능에 얼마나 기여하는지를 나타냅니다.</a:t>
            </a:r>
          </a:p>
          <a:p/>
          <a:p>
            <a:r>
              <a:t>▶ “…얼마나 기여하는지를 나타냅니다.”까지 말한 뒤 12장으로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[12장 · 4.3 관계 활용도와 탐지 효용 | 7:25–8:20 · 약 55초]</a:t>
            </a:r>
          </a:p>
          <a:p/>
          <a:p>
            <a:r>
              <a:t>합성 자료를 100번 새로 생성해서, 모두 1,000회의 학습을 반복한 결과입니다.</a:t>
            </a:r>
          </a:p>
          <a:p/>
          <a:p>
            <a:r>
              <a:t>(화면: 왼쪽 위 그래프, 아래쪽 파란 점)</a:t>
            </a:r>
          </a:p>
          <a:p>
            <a:r>
              <a:t>관계 활용도 L은 평균 2.64퍼센트포인트였고, 신뢰구간 전체가 0보다 컸습니다. 모델이 생성 관계에 실제로 반응한다는 것을 확인했습니다.</a:t>
            </a:r>
          </a:p>
          <a:p/>
          <a:p>
            <a:r>
              <a:t>(화면: 같은 그래프, 위쪽 회색 점)</a:t>
            </a:r>
          </a:p>
          <a:p>
            <a:r>
              <a:t>탐지 효용 U는 0.11퍼센트포인트로, 두 모델의 분류 정확도는 비슷했습니다.</a:t>
            </a:r>
          </a:p>
          <a:p/>
          <a:p>
            <a:r>
              <a:t>(화면: 왼쪽 아래 막대)</a:t>
            </a:r>
          </a:p>
          <a:p>
            <a:r>
              <a:t>아래 막대는 위치 이동 반응을 분해한 결과로, 반응의 99.3퍼센트가 대조군에서도 그대로 나타났습니다.</a:t>
            </a:r>
          </a:p>
          <a:p/>
          <a:p>
            <a:r>
              <a:t>(화면: 오른쪽 카드)</a:t>
            </a:r>
          </a:p>
          <a:p>
            <a:r>
              <a:t>오른쪽은 평가 절차 자체를 검증한 양성 대조입니다. 관계가 분류에 유용하도록 따로 설계한 자료에서는, 두 모델 모두 약 36퍼센트포인트의 효용을 회복했습니다. 관계가 실제로 유용하면 이 절차가 그 효과를 검출해 낸다는 뜻입니다.</a:t>
            </a:r>
          </a:p>
          <a:p/>
          <a:p>
            <a:r>
              <a:t>▶ “…검출해 낸다는 뜻입니다.”까지 말한 뒤 13장으로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[13장 · 5.1 연구 결과와 기여 | 8:20–9:00 · 약 40초]</a:t>
            </a:r>
          </a:p>
          <a:p/>
          <a:p>
            <a:r>
              <a:t>정리하겠습니다.</a:t>
            </a:r>
          </a:p>
          <a:p/>
          <a:p>
            <a:r>
              <a:t>(화면: 번호 카드, 위에서 아래로)</a:t>
            </a:r>
          </a:p>
          <a:p>
            <a:r>
              <a:t>첫째, L0부터 L6까지의 단계를 갖춘 Shift Ladder 평가 프레임워크를 구현했습니다.</a:t>
            </a:r>
          </a:p>
          <a:p/>
          <a:p>
            <a:r>
              <a:t>둘째, 학습량을 맞춘 공정한 조건에서 합성 증강의 탐지 이득을 확인했습니다.</a:t>
            </a:r>
          </a:p>
          <a:p/>
          <a:p>
            <a:r>
              <a:t>셋째, 세 지표를 나누어 측정해, 증강 효과가 유지되는 범위를 단계별로 밝혔습니다.</a:t>
            </a:r>
          </a:p>
          <a:p/>
          <a:p>
            <a:r>
              <a:t>넷째, 요인 교차 실험과 맞춤 대조군으로 생성 요소의 기여를 분해하고, 양성 대조로 절차를 검증했습니다.</a:t>
            </a:r>
          </a:p>
          <a:p/>
          <a:p>
            <a:r>
              <a:t>(화면: 아래 남색 띠)</a:t>
            </a:r>
          </a:p>
          <a:p>
            <a:r>
              <a:t>이 과제는 합성 데이터로 얻은 성능 향상의 원인과 적용 범위를, 대조 실험으로 검증하는 절차를 제시합니다.</a:t>
            </a:r>
          </a:p>
          <a:p/>
          <a:p>
            <a:r>
              <a:t>▶ “…검증하는 절차를 제시합니다.”까지 말한 뒤 14장으로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[14장 · 5.2 산출물 및 학술 성과 | 9:00–9:30 · 약 30초]</a:t>
            </a:r>
          </a:p>
          <a:p/>
          <a:p>
            <a:r>
              <a:t>(화면: 왼쪽 학술 성과)</a:t>
            </a:r>
          </a:p>
          <a:p>
            <a:r>
              <a:t>Shift Ladder 평가 체계와 동일 학습량 대조 결과는 WISA 2026에 채택되어 구두로 발표했습니다. 이후 확장한 내용은 Vehicular Communications 투고를 위한 원고로 정리하고 있습니다.</a:t>
            </a:r>
          </a:p>
          <a:p/>
          <a:p>
            <a:r>
              <a:t>(화면: 오른쪽 시스템 산출물)</a:t>
            </a:r>
          </a:p>
          <a:p>
            <a:r>
              <a:t>시스템으로는 데이터 처리 모듈과 생성기, 학습 모듈, Shift Ladder 평가기, 요인과 관계 분석기를 구현했고, 확장 검증 결과까지 함께 정리했습니다.</a:t>
            </a:r>
          </a:p>
          <a:p/>
          <a:p>
            <a:r>
              <a:t>▶ “…결과까지 함께 정리했습니다.”까지 말한 뒤 15장으로 넘김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[15장 · 감사합니다 | 9:30–9:35 · 약 5초]</a:t>
            </a:r>
          </a:p>
          <a:p/>
          <a:p>
            <a:r>
              <a:t>이상으로 발표를 마치겠습니다. 감사합니다.</a:t>
            </a:r>
          </a:p>
          <a:p/>
          <a:p>
            <a:r>
              <a:t>■ 발표 종료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모서리가 둥근 직사각형 4"/>
          <p:cNvSpPr/>
          <p:nvPr userDrawn="1"/>
        </p:nvSpPr>
        <p:spPr>
          <a:xfrm>
            <a:off x="4400915" y="6573514"/>
            <a:ext cx="342170" cy="1511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b="1" i="0">
              <a:latin typeface="NanumGothicExtraBold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457700" y="6583039"/>
            <a:ext cx="228600" cy="123111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>
            <a:lvl1pPr algn="ctr">
              <a:defRPr sz="8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 bold"/>
              </a:defRPr>
            </a:lvl1pPr>
          </a:lstStyle>
          <a:p>
            <a:pPr lvl="0">
              <a:defRPr/>
            </a:pPr>
            <a:r>
              <a:rPr lang="en-US" altLang="ko-KR"/>
              <a:t>-</a:t>
            </a:r>
            <a:fld id="{41B8E6F8-6D1B-4E04-A381-DA25B1723728}" type="slidenum">
              <a:rPr lang="ko-KR" altLang="en-US"/>
              <a:pPr lvl="0">
                <a:defRPr/>
              </a:pPr>
              <a:t>‹#›</a:t>
            </a:fld>
            <a:r>
              <a:rPr lang="en-US" altLang="ko-KR"/>
              <a:t>-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826120"/>
            <a:ext cx="9144000" cy="602490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A08186F-2B29-AE73-FD66-A7509E2962B0}"/>
              </a:ext>
            </a:extLst>
          </p:cNvPr>
          <p:cNvSpPr/>
          <p:nvPr userDrawn="1"/>
        </p:nvSpPr>
        <p:spPr>
          <a:xfrm>
            <a:off x="1" y="1655"/>
            <a:ext cx="9144000" cy="1559726"/>
          </a:xfrm>
          <a:prstGeom prst="rect">
            <a:avLst/>
          </a:prstGeom>
          <a:solidFill>
            <a:srgbClr val="284D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468058" y="613195"/>
            <a:ext cx="4186359" cy="74238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6A30176-5FC7-F867-E79D-F6102E7F9A98}"/>
              </a:ext>
            </a:extLst>
          </p:cNvPr>
          <p:cNvSpPr/>
          <p:nvPr userDrawn="1"/>
        </p:nvSpPr>
        <p:spPr>
          <a:xfrm>
            <a:off x="433553" y="1154608"/>
            <a:ext cx="5028398" cy="302564"/>
          </a:xfrm>
          <a:prstGeom prst="rect">
            <a:avLst/>
          </a:prstGeom>
          <a:solidFill>
            <a:srgbClr val="284D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marL="0" marR="0" lvl="0" indent="0" algn="l" defTabSz="99569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85000"/>
              <a:buFont typeface="맑은 고딕" pitchFamily="50" charset="-127"/>
              <a:buNone/>
              <a:tabLst/>
              <a:defRPr/>
            </a:pPr>
            <a:r>
              <a:rPr sz="1300" b="0" lang="ko-KR">
                <a:solidFill>
                  <a:srgbClr val="D5E6F7"/>
                </a:solidFill>
                <a:latin typeface="Noto Sans CJK KR"/>
                <a:ea typeface="Noto Sans CJK KR"/>
                <a:cs typeface="Noto Sans CJK KR"/>
              </a:rPr>
              <a:t>합성 CAN 공격 데이터 증강의 신뢰성 검증</a:t>
            </a:r>
            <a:endParaRPr kumimoji="1" lang="ko-KR" altLang="en-US" sz="1400" b="0" i="0" kern="1200" spc="100" baseline="0" noProof="0" dirty="0">
              <a:solidFill>
                <a:srgbClr val="92D050"/>
              </a:solidFill>
              <a:latin typeface="나눔고딕 ExtraBold" panose="020D0904000000000000" pitchFamily="34" charset="-127"/>
              <a:ea typeface="나눔고딕 ExtraBold" panose="020D0904000000000000" pitchFamily="34" charset="-127"/>
              <a:cs typeface="KoPubWorld돋움체_Pro Medium" panose="00000600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78B8C-C55C-4C3B-9F56-B535FD15F2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79572" y="89050"/>
            <a:ext cx="1685256" cy="16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076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/>
          <p:cNvSpPr/>
          <p:nvPr userDrawn="1"/>
        </p:nvSpPr>
        <p:spPr>
          <a:xfrm>
            <a:off x="4400915" y="6630664"/>
            <a:ext cx="342170" cy="1511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b="1" i="0">
              <a:latin typeface="NanumGothicExtraBold"/>
            </a:endParaRPr>
          </a:p>
        </p:txBody>
      </p:sp>
      <p:sp>
        <p:nvSpPr>
          <p:cNvPr id="9" name="슬라이드 번호 개체 틀 5"/>
          <p:cNvSpPr>
            <a:spLocks noGrp="1"/>
          </p:cNvSpPr>
          <p:nvPr userDrawn="1">
            <p:ph type="sldNum" sz="quarter" idx="10"/>
          </p:nvPr>
        </p:nvSpPr>
        <p:spPr>
          <a:xfrm>
            <a:off x="4400915" y="6646539"/>
            <a:ext cx="342170" cy="123111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ctr">
              <a:defRPr sz="8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 bold"/>
              </a:defRPr>
            </a:lvl1pPr>
          </a:lstStyle>
          <a:p>
            <a:pPr lvl="0">
              <a:defRPr/>
            </a:pPr>
            <a:fld id="{41B8E6F8-6D1B-4E04-A381-DA25B1723728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10" name="그림 9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71FC1B-9E4B-0659-9230-66DD5450AE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846" y="6441730"/>
            <a:ext cx="1308009" cy="3286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BC95CD-7DCA-0E03-9393-4BB8C76C83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10452" b="16247"/>
          <a:stretch>
            <a:fillRect/>
          </a:stretch>
        </p:blipFill>
        <p:spPr>
          <a:xfrm>
            <a:off x="6980860" y="6410314"/>
            <a:ext cx="2106746" cy="39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2669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FFE586E-3B46-0C53-E6B6-F0CBD31C12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400915" y="6646539"/>
            <a:ext cx="342170" cy="123111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ctr">
              <a:defRPr sz="8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 bold"/>
              </a:defRPr>
            </a:lvl1pPr>
          </a:lstStyle>
          <a:p>
            <a:pPr lvl="0">
              <a:defRPr/>
            </a:pPr>
            <a:fld id="{41B8E6F8-6D1B-4E04-A381-DA25B1723728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2363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 userDrawn="1"/>
        </p:nvSpPr>
        <p:spPr>
          <a:xfrm>
            <a:off x="4400915" y="6630664"/>
            <a:ext cx="342170" cy="1511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b="1" i="0">
              <a:latin typeface="NanumGothicExtraBold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6788" y="325372"/>
            <a:ext cx="2730235" cy="3323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lvl="0">
              <a:spcAft>
                <a:spcPts val="200"/>
              </a:spcAft>
              <a:defRPr/>
            </a:pPr>
            <a:r>
              <a:rPr lang="ko-KR" altLang="en-US" dirty="0"/>
              <a:t>대제목을 입력해주세요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400915" y="6646539"/>
            <a:ext cx="342170" cy="123111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ctr">
              <a:defRPr sz="8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/>
                <a:ea typeface="나눔스퀘어 bold"/>
              </a:defRPr>
            </a:lvl1pPr>
          </a:lstStyle>
          <a:p>
            <a:pPr lvl="0">
              <a:defRPr/>
            </a:pPr>
            <a:fld id="{41B8E6F8-6D1B-4E04-A381-DA25B172372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5A7713F-3902-CC0E-0150-2C0B2A1489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90"/>
          <a:stretch/>
        </p:blipFill>
        <p:spPr bwMode="auto">
          <a:xfrm>
            <a:off x="0" y="-3773"/>
            <a:ext cx="7588799" cy="658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EF57FE-1C2A-EEA5-BA32-77D6DC4D4D85}"/>
              </a:ext>
            </a:extLst>
          </p:cNvPr>
          <p:cNvSpPr/>
          <p:nvPr userDrawn="1"/>
        </p:nvSpPr>
        <p:spPr>
          <a:xfrm>
            <a:off x="7490153" y="-4283"/>
            <a:ext cx="1653848" cy="658800"/>
          </a:xfrm>
          <a:prstGeom prst="rect">
            <a:avLst/>
          </a:prstGeom>
          <a:solidFill>
            <a:srgbClr val="2A55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0E215C97-CBCA-74FE-F875-5C08E93583F2}"/>
              </a:ext>
            </a:extLst>
          </p:cNvPr>
          <p:cNvSpPr txBox="1">
            <a:spLocks/>
          </p:cNvSpPr>
          <p:nvPr userDrawn="1"/>
        </p:nvSpPr>
        <p:spPr>
          <a:xfrm>
            <a:off x="7589520" y="155448"/>
            <a:ext cx="1325880" cy="3017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algn="l" rtl="0" fontAlgn="base" latinLnBrk="0">
              <a:spcBef>
                <a:spcPct val="0"/>
              </a:spcBef>
              <a:spcAft>
                <a:spcPct val="0"/>
              </a:spcAft>
              <a:defRPr kumimoji="1" lang="ko-KR" altLang="en-US" sz="1200" b="0" kern="1200" spc="-40" smtClean="0">
                <a:solidFill>
                  <a:schemeClr val="tx1">
                    <a:lumMod val="65000"/>
                    <a:lumOff val="35000"/>
                  </a:schemeClr>
                </a:solidFill>
                <a:latin typeface="Rix고딕 B" pitchFamily="18" charset="-127"/>
                <a:ea typeface="Rix고딕 B" pitchFamily="18" charset="-127"/>
                <a:cs typeface="+mn-cs"/>
              </a:defRPr>
            </a:lvl1pPr>
            <a:lvl2pPr algn="l" rtl="0" fontAlgn="base" latinLnBrk="0">
              <a:spcBef>
                <a:spcPct val="0"/>
              </a:spcBef>
              <a:spcAft>
                <a:spcPct val="0"/>
              </a:spcAft>
              <a:defRPr kumimoji="1" lang="ko-KR" altLang="en-US" sz="1200" b="0" kern="1200" spc="-40" smtClean="0">
                <a:solidFill>
                  <a:schemeClr val="tx1">
                    <a:lumMod val="65000"/>
                    <a:lumOff val="35000"/>
                  </a:schemeClr>
                </a:solidFill>
                <a:latin typeface="Rix고딕 B" pitchFamily="18" charset="-127"/>
                <a:ea typeface="Rix고딕 B" pitchFamily="18" charset="-127"/>
                <a:cs typeface="+mn-cs"/>
              </a:defRPr>
            </a:lvl2pPr>
            <a:lvl3pPr algn="l" rtl="0" fontAlgn="base" latinLnBrk="0">
              <a:spcBef>
                <a:spcPct val="0"/>
              </a:spcBef>
              <a:spcAft>
                <a:spcPct val="0"/>
              </a:spcAft>
              <a:defRPr kumimoji="1" lang="ko-KR" altLang="en-US" sz="1200" b="0" kern="1200" spc="-40" smtClean="0">
                <a:solidFill>
                  <a:schemeClr val="tx1">
                    <a:lumMod val="65000"/>
                    <a:lumOff val="35000"/>
                  </a:schemeClr>
                </a:solidFill>
                <a:latin typeface="Rix고딕 B" pitchFamily="18" charset="-127"/>
                <a:ea typeface="Rix고딕 B" pitchFamily="18" charset="-127"/>
                <a:cs typeface="+mn-cs"/>
              </a:defRPr>
            </a:lvl3pPr>
            <a:lvl4pPr algn="l" rtl="0" fontAlgn="base" latinLnBrk="0">
              <a:spcBef>
                <a:spcPct val="0"/>
              </a:spcBef>
              <a:spcAft>
                <a:spcPct val="0"/>
              </a:spcAft>
              <a:defRPr kumimoji="1" lang="ko-KR" altLang="en-US" sz="1200" b="0" kern="1200" spc="-40" smtClean="0">
                <a:solidFill>
                  <a:schemeClr val="tx1">
                    <a:lumMod val="65000"/>
                    <a:lumOff val="35000"/>
                  </a:schemeClr>
                </a:solidFill>
                <a:latin typeface="Rix고딕 B" pitchFamily="18" charset="-127"/>
                <a:ea typeface="Rix고딕 B" pitchFamily="18" charset="-127"/>
                <a:cs typeface="+mn-cs"/>
              </a:defRPr>
            </a:lvl4pPr>
            <a:lvl5pPr algn="l" rtl="0" fontAlgn="base" latinLnBrk="0">
              <a:spcBef>
                <a:spcPct val="0"/>
              </a:spcBef>
              <a:spcAft>
                <a:spcPct val="0"/>
              </a:spcAft>
              <a:defRPr kumimoji="1" lang="ko-KR" altLang="en-US" sz="1200" b="0" kern="1200" spc="-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고딕 B" pitchFamily="18" charset="-127"/>
                <a:ea typeface="Rix고딕 B" pitchFamily="18" charset="-127"/>
                <a:cs typeface="+mn-cs"/>
              </a:defRPr>
            </a:lvl5pPr>
          </a:lstStyle>
          <a:p>
            <a:pPr marL="0" marR="0" lvl="0" indent="0" algn="r" defTabSz="99569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ct val="85000"/>
              <a:buFont typeface="맑은 고딕" pitchFamily="50" charset="-127"/>
              <a:buNone/>
              <a:tabLst/>
              <a:defRPr/>
            </a:pPr>
            <a:r>
              <a:rPr sz="14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InfoSec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DA2CD7-793F-1C48-F9A8-B539DAADC984}"/>
              </a:ext>
            </a:extLst>
          </p:cNvPr>
          <p:cNvSpPr/>
          <p:nvPr userDrawn="1"/>
        </p:nvSpPr>
        <p:spPr>
          <a:xfrm>
            <a:off x="0" y="665"/>
            <a:ext cx="636448" cy="653852"/>
          </a:xfrm>
          <a:prstGeom prst="rect">
            <a:avLst/>
          </a:prstGeom>
          <a:solidFill>
            <a:srgbClr val="203864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203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00" r:id="rId10"/>
    <p:sldLayoutId id="2147483811" r:id="rId14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2400" kern="1200" spc="-80" dirty="0">
          <a:ln w="9525">
            <a:solidFill>
              <a:schemeClr val="accent1">
                <a:alpha val="0"/>
              </a:schemeClr>
            </a:solidFill>
          </a:ln>
          <a:solidFill>
            <a:srgbClr val="003878"/>
          </a:solidFill>
          <a:effectLst/>
          <a:latin typeface="페이퍼로지 5 Medium"/>
          <a:ea typeface="페이퍼로지 5 Medium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297745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550" y="1786289"/>
            <a:ext cx="3170195" cy="317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" y="45720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합성 CAN 공격 데이터 증강의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신뢰성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874519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D5E6F7"/>
                </a:solidFill>
                <a:latin typeface="Noto Sans CJK KR"/>
                <a:ea typeface="Noto Sans CJK KR"/>
                <a:cs typeface="Noto Sans CJK KR"/>
              </a:rPr>
              <a:t>단계적 평가 프레임워크 Shift Ladder의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D5E6F7"/>
                </a:solidFill>
                <a:latin typeface="Noto Sans CJK KR"/>
                <a:ea typeface="Noto Sans CJK KR"/>
                <a:cs typeface="Noto Sans CJK KR"/>
              </a:rPr>
              <a:t>설계 및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6118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2026 전기 졸업과제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315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46 · InfoSec  |  장현진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809744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부산대학교 정보컴퓨터공학부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지도교수 김호원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82880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7" y="18288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1.  CAN 통신과 침입탐지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2.  합성 데이터 증강과 평가의 공백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32461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제안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49039"/>
            <a:ext cx="338328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1.  Shift Ladder 평가 프레임워크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2.  비교군과 평가 지표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3.  시스템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93776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49377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실험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440680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1.  동일 학습량에서의 증강 효과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2.  평가 단계별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82880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82880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8288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원인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31720"/>
            <a:ext cx="338328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1.  생성 요인 교차 실험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2.  맞춤 대조군 설계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3.  관계 활용도와 탐지 효용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794760"/>
            <a:ext cx="3749039" cy="384048"/>
          </a:xfrm>
          <a:prstGeom prst="roundRect">
            <a:avLst>
              <a:gd name="adj" fmla="val 20000"/>
            </a:avLst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3794760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37947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297680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1.  연구 결과와 기여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2.  산출물 및 학술 성과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1828800"/>
            <a:ext cx="0" cy="4206240"/>
          </a:xfrm>
          <a:prstGeom prst="line">
            <a:avLst/>
          </a:prstGeom>
          <a:ln w="15240">
            <a:solidFill>
              <a:srgbClr val="53BB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배경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1.1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CAN 통신과 침입탐지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CAN은 송신자 인증이 없어 메시지 주입 공격에 취약하다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침입탐지 모델(IDS)은 메시지의 ID, 데이터 값, 전송 간격을 학습해 정상 통신과 공격을 구분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3</a:t>
            </a:fld>
          </a:p>
        </p:txBody>
      </p:sp>
      <p:sp>
        <p:nvSpPr>
          <p:cNvPr id="19" name="Rectangle 18"/>
          <p:cNvSpPr/>
          <p:nvPr/>
        </p:nvSpPr>
        <p:spPr>
          <a:xfrm>
            <a:off x="374904" y="2395728"/>
            <a:ext cx="512064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2395728"/>
            <a:ext cx="5120640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3" y="23957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차량 내부 통신망 (CAN 버스)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962656"/>
            <a:ext cx="1060704" cy="420624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962656"/>
            <a:ext cx="91439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엔진 ECU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24712" y="3383280"/>
            <a:ext cx="0" cy="310896"/>
          </a:xfrm>
          <a:prstGeom prst="line">
            <a:avLst/>
          </a:prstGeom>
          <a:ln w="20320">
            <a:solidFill>
              <a:srgbClr val="0F26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01368" y="2962656"/>
            <a:ext cx="1060704" cy="420624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20" y="2962656"/>
            <a:ext cx="91439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변속기 ECU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3383280"/>
            <a:ext cx="0" cy="310896"/>
          </a:xfrm>
          <a:prstGeom prst="line">
            <a:avLst/>
          </a:prstGeom>
          <a:ln w="20320">
            <a:solidFill>
              <a:srgbClr val="0F26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08376" y="2962656"/>
            <a:ext cx="1060704" cy="420624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2962656"/>
            <a:ext cx="91439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제동 ECU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38728" y="3383280"/>
            <a:ext cx="0" cy="310896"/>
          </a:xfrm>
          <a:prstGeom prst="line">
            <a:avLst/>
          </a:prstGeom>
          <a:ln w="20320">
            <a:solidFill>
              <a:srgbClr val="0F26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15384" y="2962656"/>
            <a:ext cx="1060704" cy="420624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2962656"/>
            <a:ext cx="91439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계기판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45736" y="3383280"/>
            <a:ext cx="0" cy="310896"/>
          </a:xfrm>
          <a:prstGeom prst="line">
            <a:avLst/>
          </a:prstGeom>
          <a:ln w="20320">
            <a:solidFill>
              <a:srgbClr val="0F26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8640" y="3694176"/>
            <a:ext cx="4773168" cy="0"/>
          </a:xfrm>
          <a:prstGeom prst="line">
            <a:avLst/>
          </a:prstGeom>
          <a:ln w="40640">
            <a:solidFill>
              <a:srgbClr val="0F26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89120" y="374903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CAN 버스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00200" y="3694176"/>
            <a:ext cx="0" cy="347472"/>
          </a:xfrm>
          <a:prstGeom prst="line">
            <a:avLst/>
          </a:prstGeom>
          <a:ln w="20320">
            <a:solidFill>
              <a:srgbClr val="C96F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7240" y="4041648"/>
            <a:ext cx="1645920" cy="420624"/>
          </a:xfrm>
          <a:prstGeom prst="roundRect">
            <a:avLst>
              <a:gd name="adj" fmla="val 12000"/>
            </a:avLst>
          </a:prstGeom>
          <a:solidFill>
            <a:srgbClr val="C9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041648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공격 노드 · 메시지 주입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49039" y="3694176"/>
            <a:ext cx="0" cy="347472"/>
          </a:xfrm>
          <a:prstGeom prst="line">
            <a:avLst/>
          </a:prstGeom>
          <a:ln w="20320">
            <a:solidFill>
              <a:srgbClr val="1F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926080" y="4041648"/>
            <a:ext cx="1645920" cy="420624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4041648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침입탐지 모델 (IDS)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66344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CAN 메시지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919472"/>
            <a:ext cx="777240" cy="310896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4919472"/>
            <a:ext cx="6309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CAN 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08176" y="4919472"/>
            <a:ext cx="548640" cy="310896"/>
          </a:xfrm>
          <a:prstGeom prst="rect">
            <a:avLst/>
          </a:prstGeom>
          <a:solidFill>
            <a:srgbClr val="4F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81328" y="4919472"/>
            <a:ext cx="40233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DLC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3392" y="4919472"/>
            <a:ext cx="2514600" cy="310896"/>
          </a:xfrm>
          <a:prstGeom prst="rect">
            <a:avLst/>
          </a:prstGeom>
          <a:solidFill>
            <a:srgbClr val="9DB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66544" y="4919472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DATA 0 – 7  (8바이트)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44568" y="4919472"/>
            <a:ext cx="548640" cy="310896"/>
          </a:xfrm>
          <a:prstGeom prst="rect">
            <a:avLst/>
          </a:prstGeom>
          <a:solidFill>
            <a:srgbClr val="D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4919472"/>
            <a:ext cx="402335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Δt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2760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연속 128개 메시지 × 11채널을 하나의 입력 구간으로 사용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2395728"/>
            <a:ext cx="308152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687568" y="2395728"/>
            <a:ext cx="3081528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24728" y="2395728"/>
            <a:ext cx="280720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공격 유형 · Car-Hacking 데이터셋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52160" y="2980944"/>
            <a:ext cx="713232" cy="420624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25312" y="2980944"/>
            <a:ext cx="56692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DoS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93408" y="2907792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최우선 ID 메시지를 대량 주입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52160" y="3529584"/>
            <a:ext cx="2752344" cy="0"/>
          </a:xfrm>
          <a:prstGeom prst="line">
            <a:avLst/>
          </a:prstGeom>
          <a:ln w="1016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852160" y="3657600"/>
            <a:ext cx="713232" cy="420624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25312" y="3657600"/>
            <a:ext cx="56692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Fuzzy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3584448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무작위 ID와 값을 주입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52160" y="4206240"/>
            <a:ext cx="2752344" cy="0"/>
          </a:xfrm>
          <a:prstGeom prst="line">
            <a:avLst/>
          </a:prstGeom>
          <a:ln w="1016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852160" y="4334256"/>
            <a:ext cx="713232" cy="420624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25312" y="4334256"/>
            <a:ext cx="56692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Gear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4261104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기어 상태 메시지를 위조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852160" y="4882896"/>
            <a:ext cx="2752344" cy="0"/>
          </a:xfrm>
          <a:prstGeom prst="line">
            <a:avLst/>
          </a:prstGeom>
          <a:ln w="1016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5852160" y="5010912"/>
            <a:ext cx="713232" cy="420624"/>
          </a:xfrm>
          <a:prstGeom prst="roundRect">
            <a:avLst>
              <a:gd name="adj" fmla="val 1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25312" y="5010912"/>
            <a:ext cx="56692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RPM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93408" y="493776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엔진 회전수 메시지를 위조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차량에서 다양한 공격 자료를 반복 수집하기 어려워 학습 자료의 부족이 성능의 제약이 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배경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1.2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합성 데이터 증강과 평가의 공백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합성 증강의 효과는 증강 전후 점수 비교만으로 설명되지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합성 데이터 증강: 관측한 공격의 규칙으로 새 표본을 만들어 부족한 공격 학습 자료를 보충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4</a:t>
            </a:fld>
          </a:p>
        </p:txBody>
      </p:sp>
      <p:sp>
        <p:nvSpPr>
          <p:cNvPr id="19" name="Rounded Rectangle 18"/>
          <p:cNvSpPr/>
          <p:nvPr/>
        </p:nvSpPr>
        <p:spPr>
          <a:xfrm>
            <a:off x="374904" y="2395728"/>
            <a:ext cx="1920240" cy="585216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395728"/>
            <a:ext cx="177393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실제 자료 + 합성 공격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22576" y="2688336"/>
            <a:ext cx="182880" cy="0"/>
          </a:xfrm>
          <a:prstGeom prst="line">
            <a:avLst/>
          </a:prstGeom>
          <a:ln w="20320">
            <a:solidFill>
              <a:srgbClr val="1F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32888" y="2395728"/>
            <a:ext cx="1920240" cy="585216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395728"/>
            <a:ext cx="177393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탐지 모델 학습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0560" y="2688336"/>
            <a:ext cx="182880" cy="0"/>
          </a:xfrm>
          <a:prstGeom prst="line">
            <a:avLst/>
          </a:prstGeom>
          <a:ln w="20320">
            <a:solidFill>
              <a:srgbClr val="1F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90872" y="2395728"/>
            <a:ext cx="1920240" cy="585216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2395728"/>
            <a:ext cx="177393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시험 점수 상승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38544" y="2688336"/>
            <a:ext cx="182880" cy="0"/>
          </a:xfrm>
          <a:prstGeom prst="line">
            <a:avLst/>
          </a:prstGeom>
          <a:ln w="20320">
            <a:solidFill>
              <a:srgbClr val="C96F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48856" y="2395728"/>
            <a:ext cx="1920240" cy="585216"/>
          </a:xfrm>
          <a:prstGeom prst="roundRect">
            <a:avLst>
              <a:gd name="adj" fmla="val 14000"/>
            </a:avLst>
          </a:prstGeom>
          <a:solidFill>
            <a:srgbClr val="FCF0E4"/>
          </a:solidFill>
          <a:ln w="11430">
            <a:solidFill>
              <a:srgbClr val="C9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8" y="2395728"/>
            <a:ext cx="177393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원인과 유지 범위는?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3200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점수 비교에서 구분해야 할 세 가지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" y="3538728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4" y="3538728"/>
            <a:ext cx="2651760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3" y="3538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   학습량과 표본 내용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" y="4023360"/>
            <a:ext cx="2322576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자료가 늘어 더 많이 학습한 효과와 합성 표본의 내용이 만든 효과가 섞여 있음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496" y="5010912"/>
            <a:ext cx="2322576" cy="420624"/>
          </a:xfrm>
          <a:prstGeom prst="roundRect">
            <a:avLst>
              <a:gd name="adj" fmla="val 1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5010912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→  학습량을 맞춘 대조 실험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3538728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3538728"/>
            <a:ext cx="2651760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538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   공격 탐지와 유형 식별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0712" y="4023360"/>
            <a:ext cx="2322576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공격의 존재를 찾아내는 성능과 공격 유형까지 맞히는 성능은 서로 다른 능력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0712" y="5010912"/>
            <a:ext cx="2322576" cy="420624"/>
          </a:xfrm>
          <a:prstGeom prst="roundRect">
            <a:avLst>
              <a:gd name="adj" fmla="val 1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2152" y="5010912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→  지표를 분리한 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17336" y="3538728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17336" y="3538728"/>
            <a:ext cx="2651760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4496" y="35387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   학습 환경과 새 환경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4023360"/>
            <a:ext cx="2322576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학습과 시험이 같은 생성 규칙을 공유하면 규칙이나 차량이 바뀐 조건의 성능을 알 수 없음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1928" y="5010912"/>
            <a:ext cx="2322576" cy="420624"/>
          </a:xfrm>
          <a:prstGeom prst="roundRect">
            <a:avLst>
              <a:gd name="adj" fmla="val 1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368" y="5010912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→  조건을 바꾼 단계적 평가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연구 목표   합성 증강의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탐지 효과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와 그 효과가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유지되는 조건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을 함께 평가하는 시스템의 설계와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제안 방법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2.1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Shift Ladder 평가 프레임워크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평가 조건을 학습 환경에서 단계적으로 멀어지게 하며 증강 효과를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생성 문법: CAN ID, 페이로드, 시간 간격, 주입 배치를 정하는 합성 공격의 생성 규칙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5</a:t>
            </a:fld>
          </a:p>
        </p:txBody>
      </p:sp>
      <p:sp>
        <p:nvSpPr>
          <p:cNvPr id="19" name="TextBox 18"/>
          <p:cNvSpPr txBox="1"/>
          <p:nvPr/>
        </p:nvSpPr>
        <p:spPr>
          <a:xfrm>
            <a:off x="1097280" y="23500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평가 조건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3500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분석 목적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" y="2624328"/>
            <a:ext cx="566928" cy="384048"/>
          </a:xfrm>
          <a:prstGeom prst="rect">
            <a:avLst/>
          </a:prstGeom>
          <a:solidFill>
            <a:srgbClr val="D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2624328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L0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2624328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262432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학습 도메인의 분리된 시험 자료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79392" y="2816352"/>
            <a:ext cx="841248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30368" y="2624328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기본 탐지 성능의 유지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063240"/>
            <a:ext cx="566928" cy="384048"/>
          </a:xfrm>
          <a:prstGeom prst="rect">
            <a:avLst/>
          </a:prstGeom>
          <a:solidFill>
            <a:srgbClr val="BFD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063240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L1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568" y="3063240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306324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생성 규칙을 공유하는 고정 변형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98264" y="3255264"/>
            <a:ext cx="722376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30368" y="30632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같은 학습량에서 얻는 탐지 이득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" y="3502152"/>
            <a:ext cx="566928" cy="384048"/>
          </a:xfrm>
          <a:prstGeom prst="rect">
            <a:avLst/>
          </a:prstGeom>
          <a:solidFill>
            <a:srgbClr val="9DB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799" y="3502152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L2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40" y="3502152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53312" y="350215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공격 강도와 구조의 결합 변형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17136" y="3694176"/>
            <a:ext cx="603504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30368" y="3502152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설정별 증강 효과의 변화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941064"/>
            <a:ext cx="566928" cy="384048"/>
          </a:xfrm>
          <a:prstGeom prst="rect">
            <a:avLst/>
          </a:prstGeom>
          <a:solidFill>
            <a:srgbClr val="7AA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941064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L3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53312" y="3941064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72184" y="3941064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공격 대상 CAN ID의 이동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636007" y="4133088"/>
            <a:ext cx="484633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30368" y="3941064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다른 식별자에서의 유형 인식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4379976"/>
            <a:ext cx="566928" cy="384048"/>
          </a:xfrm>
          <a:prstGeom prst="rect">
            <a:avLst/>
          </a:prstGeom>
          <a:solidFill>
            <a:srgbClr val="4F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" y="4379976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72184" y="4379976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91056" y="4379976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페이로드 위치 등을 바꾼 복합 변형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54879" y="4572000"/>
            <a:ext cx="365761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230368" y="4379976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공격 탐지와 유형 식별의 차이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" y="4818888"/>
            <a:ext cx="566928" cy="38404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2416" y="4818888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91056" y="4818888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9928" y="4818888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외부 차량과 수집 환경의 데이터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873752" y="5010912"/>
            <a:ext cx="246888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230368" y="4818888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정상 오탐률과 탐지율의 전이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8136" y="5257800"/>
            <a:ext cx="566928" cy="384048"/>
          </a:xfrm>
          <a:prstGeom prst="rect">
            <a:avLst/>
          </a:prstGeom>
          <a:solidFill>
            <a:srgbClr val="14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1288" y="5257800"/>
            <a:ext cx="4206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09928" y="5257800"/>
            <a:ext cx="3246120" cy="384048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0" y="525780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입력 특성 제거와 보정 진단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92624" y="5449824"/>
            <a:ext cx="128016" cy="0"/>
          </a:xfrm>
          <a:prstGeom prst="line">
            <a:avLst/>
          </a:prstGeom>
          <a:ln w="11430">
            <a:solidFill>
              <a:srgbClr val="D3DBE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230368" y="52578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분포 차이가 미친 영향 분석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80960" y="2624328"/>
            <a:ext cx="1088136" cy="384048"/>
          </a:xfrm>
          <a:prstGeom prst="roundRect">
            <a:avLst>
              <a:gd name="adj" fmla="val 10000"/>
            </a:avLst>
          </a:prstGeom>
          <a:solidFill>
            <a:srgbClr val="DC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54112" y="2624328"/>
            <a:ext cx="9418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학습 도메인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0" y="3063240"/>
            <a:ext cx="1088136" cy="822959"/>
          </a:xfrm>
          <a:prstGeom prst="roundRect">
            <a:avLst>
              <a:gd name="adj" fmla="val 10000"/>
            </a:avLst>
          </a:prstGeom>
          <a:solidFill>
            <a:srgbClr val="9DB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4112" y="3063240"/>
            <a:ext cx="941832" cy="822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0F2645"/>
                </a:solidFill>
                <a:latin typeface="Noto Sans CJK KR"/>
                <a:ea typeface="Noto Sans CJK KR"/>
                <a:cs typeface="Noto Sans CJK KR"/>
              </a:rPr>
              <a:t>생성 규칙 공유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3941064"/>
            <a:ext cx="1088136" cy="822959"/>
          </a:xfrm>
          <a:prstGeom prst="roundRect">
            <a:avLst>
              <a:gd name="adj" fmla="val 10000"/>
            </a:avLst>
          </a:prstGeom>
          <a:solidFill>
            <a:srgbClr val="4F8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54112" y="3941064"/>
            <a:ext cx="941832" cy="822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생성 규칙 이탈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80960" y="4818888"/>
            <a:ext cx="1088136" cy="822959"/>
          </a:xfrm>
          <a:prstGeom prst="roundRect">
            <a:avLst>
              <a:gd name="adj" fmla="val 10000"/>
            </a:avLst>
          </a:prstGeom>
          <a:solidFill>
            <a:srgbClr val="14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54112" y="4818888"/>
            <a:ext cx="941832" cy="822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차량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모든 단계에서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공격 탐지율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유형 재현율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정상 오탐률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을 분리해 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제안 방법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2.2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비교군과 평가 지표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학습량을 맞춘 세 학습군으로 합성 표본 내용의 기여를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세 학습군 모두 같은 1D-CNN 구조, 같은 7,992회 갱신, 학습 시드 5개로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6</a:t>
            </a:fld>
          </a:p>
        </p:txBody>
      </p:sp>
      <p:sp>
        <p:nvSpPr>
          <p:cNvPr id="19" name="Rectangle 18"/>
          <p:cNvSpPr/>
          <p:nvPr/>
        </p:nvSpPr>
        <p:spPr>
          <a:xfrm>
            <a:off x="374904" y="2395728"/>
            <a:ext cx="4983480" cy="2724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2395728"/>
            <a:ext cx="4983480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3" y="239572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 자료의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2999232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실제 자료만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2999232"/>
            <a:ext cx="2514600" cy="402336"/>
          </a:xfrm>
          <a:prstGeom prst="rect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56231" y="2999232"/>
            <a:ext cx="236829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학습 자료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657600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공격 복제 +30%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3657600"/>
            <a:ext cx="2514600" cy="402336"/>
          </a:xfrm>
          <a:prstGeom prst="rect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56231" y="3657600"/>
            <a:ext cx="236829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학습 자료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3657600"/>
            <a:ext cx="754380" cy="402336"/>
          </a:xfrm>
          <a:prstGeom prst="rect">
            <a:avLst/>
          </a:prstGeom>
          <a:solidFill>
            <a:srgbClr val="B9C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3657600"/>
            <a:ext cx="717803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실제 공격 복제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315968"/>
            <a:ext cx="123444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합성 증강 +30%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4315968"/>
            <a:ext cx="2514600" cy="402336"/>
          </a:xfrm>
          <a:prstGeom prst="rect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1" y="4315968"/>
            <a:ext cx="236829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학습 자료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4315968"/>
            <a:ext cx="75438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2544" y="4315968"/>
            <a:ext cx="717803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합성 공격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479145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추가 표본 수는 두 학습군 모두 실제 학습 자료의 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9552" y="2395728"/>
            <a:ext cx="3209544" cy="2724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59552" y="2395728"/>
            <a:ext cx="3209544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6712" y="2395728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분리해 측정하는 지표</a:t>
            </a:r>
          </a:p>
        </p:txBody>
      </p:sp>
      <p:sp>
        <p:nvSpPr>
          <p:cNvPr id="39" name="Oval 38"/>
          <p:cNvSpPr/>
          <p:nvPr/>
        </p:nvSpPr>
        <p:spPr>
          <a:xfrm>
            <a:off x="5724144" y="3054096"/>
            <a:ext cx="329184" cy="32918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24144" y="30540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29626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공격 탐지율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323697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공격 구간을 공격으로 판정한 비율</a:t>
            </a:r>
          </a:p>
        </p:txBody>
      </p:sp>
      <p:sp>
        <p:nvSpPr>
          <p:cNvPr id="43" name="Oval 42"/>
          <p:cNvSpPr/>
          <p:nvPr/>
        </p:nvSpPr>
        <p:spPr>
          <a:xfrm>
            <a:off x="5724144" y="3767328"/>
            <a:ext cx="329184" cy="32918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37673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367588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유형 재현율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344" y="395020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공격 유형까지 정확히 맞힌 비율</a:t>
            </a:r>
          </a:p>
        </p:txBody>
      </p:sp>
      <p:sp>
        <p:nvSpPr>
          <p:cNvPr id="47" name="Oval 46"/>
          <p:cNvSpPr/>
          <p:nvPr/>
        </p:nvSpPr>
        <p:spPr>
          <a:xfrm>
            <a:off x="5724144" y="4480560"/>
            <a:ext cx="329184" cy="329184"/>
          </a:xfrm>
          <a:prstGeom prst="ellipse">
            <a:avLst/>
          </a:prstGeom>
          <a:solidFill>
            <a:srgbClr val="C9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24144" y="44805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344" y="4389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정상 오탐률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1344" y="46634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정상 구간을 공격으로 오인한 비율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" y="5367528"/>
            <a:ext cx="2706624" cy="91440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" y="536752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탐지기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99032" y="536752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1D-CNN (주 분석)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Random Forest (비교)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18688" y="5367528"/>
            <a:ext cx="2706624" cy="91440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36752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반복 단위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2816" y="536752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학습 시드 5개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생성 반복 최대 100개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62472" y="5367528"/>
            <a:ext cx="2706624" cy="91440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45352" y="5367528"/>
            <a:ext cx="8686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통계 분석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5367528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대응 차이와 신뢰구간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Holm 보정, 동등성 검정(TOST)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제안 방법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2.3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시스템 구현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데이터 분리부터 통계 분석까지 여섯 모듈을 하나의 파이프라인으로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설정 파일 기반 Python CLI로 반복 실험을 자동 실행하고 입력, 모델, 결과를 해시로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7</a:t>
            </a:fld>
          </a:p>
        </p:txBody>
      </p:sp>
      <p:sp>
        <p:nvSpPr>
          <p:cNvPr id="19" name="Rounded Rectangle 18"/>
          <p:cNvSpPr/>
          <p:nvPr/>
        </p:nvSpPr>
        <p:spPr>
          <a:xfrm>
            <a:off x="374904" y="2368296"/>
            <a:ext cx="4114800" cy="603504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1430">
            <a:solidFill>
              <a:srgbClr val="9DB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368296"/>
            <a:ext cx="3968496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학습 데이터   Car-Hacking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학습 · 검증 · 시험으로 시간 순 분할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4296" y="2368296"/>
            <a:ext cx="4114800" cy="603504"/>
          </a:xfrm>
          <a:prstGeom prst="roundRect">
            <a:avLst>
              <a:gd name="adj" fmla="val 12000"/>
            </a:avLst>
          </a:prstGeom>
          <a:solidFill>
            <a:srgbClr val="FCF0E4"/>
          </a:solidFill>
          <a:ln w="11430">
            <a:solidFill>
              <a:srgbClr val="E3B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368296"/>
            <a:ext cx="3968496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8A4A10"/>
                </a:solidFill>
                <a:latin typeface="Noto Sans CJK KR"/>
                <a:ea typeface="Noto Sans CJK KR"/>
                <a:cs typeface="Noto Sans CJK KR"/>
              </a:rPr>
              <a:t>외부 데이터   OTIDS · ROAD · can-train-and-test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8A4A10"/>
                </a:solidFill>
                <a:latin typeface="Noto Sans CJK KR"/>
                <a:ea typeface="Noto Sans CJK KR"/>
                <a:cs typeface="Noto Sans CJK KR"/>
              </a:rPr>
              <a:t>학습과 분리한 평가 전용</a:t>
            </a:r>
          </a:p>
        </p:txBody>
      </p:sp>
      <p:sp>
        <p:nvSpPr>
          <p:cNvPr id="23" name="Pentagon 22"/>
          <p:cNvSpPr/>
          <p:nvPr/>
        </p:nvSpPr>
        <p:spPr>
          <a:xfrm>
            <a:off x="374904" y="3246120"/>
            <a:ext cx="1481328" cy="475488"/>
          </a:xfrm>
          <a:prstGeom prst="homePlate">
            <a:avLst>
              <a:gd name="adj" fmla="val 2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데이터 분리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79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시간 순 분할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분할 간 중복 검사</a:t>
            </a:r>
          </a:p>
        </p:txBody>
      </p:sp>
      <p:sp>
        <p:nvSpPr>
          <p:cNvPr id="27" name="Chevron 26"/>
          <p:cNvSpPr/>
          <p:nvPr/>
        </p:nvSpPr>
        <p:spPr>
          <a:xfrm>
            <a:off x="1757476" y="3246120"/>
            <a:ext cx="1481328" cy="475488"/>
          </a:xfrm>
          <a:prstGeom prst="chevron">
            <a:avLst>
              <a:gd name="adj" fmla="val 22000"/>
            </a:avLst>
          </a:prstGeom>
          <a:solidFill>
            <a:srgbClr val="14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0356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합성 공격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94052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8916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공격 유형 4종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평가 변형, 대조군</a:t>
            </a:r>
          </a:p>
        </p:txBody>
      </p:sp>
      <p:sp>
        <p:nvSpPr>
          <p:cNvPr id="31" name="Chevron 30"/>
          <p:cNvSpPr/>
          <p:nvPr/>
        </p:nvSpPr>
        <p:spPr>
          <a:xfrm>
            <a:off x="3140049" y="3246120"/>
            <a:ext cx="1481328" cy="475488"/>
          </a:xfrm>
          <a:prstGeom prst="chevron">
            <a:avLst>
              <a:gd name="adj" fmla="val 2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22929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탐지기 학습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6625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1489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1D-CNN, RF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학습량 통제</a:t>
            </a:r>
          </a:p>
        </p:txBody>
      </p:sp>
      <p:sp>
        <p:nvSpPr>
          <p:cNvPr id="35" name="Chevron 34"/>
          <p:cNvSpPr/>
          <p:nvPr/>
        </p:nvSpPr>
        <p:spPr>
          <a:xfrm>
            <a:off x="4522622" y="3246120"/>
            <a:ext cx="1481328" cy="475488"/>
          </a:xfrm>
          <a:prstGeom prst="chevron">
            <a:avLst>
              <a:gd name="adj" fmla="val 22000"/>
            </a:avLst>
          </a:prstGeom>
          <a:solidFill>
            <a:srgbClr val="14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5502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단계적 평가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9198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4062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L0 – L6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세 지표 분리 산출</a:t>
            </a:r>
          </a:p>
        </p:txBody>
      </p:sp>
      <p:sp>
        <p:nvSpPr>
          <p:cNvPr id="39" name="Chevron 38"/>
          <p:cNvSpPr/>
          <p:nvPr/>
        </p:nvSpPr>
        <p:spPr>
          <a:xfrm>
            <a:off x="5905195" y="3246120"/>
            <a:ext cx="1481328" cy="475488"/>
          </a:xfrm>
          <a:prstGeom prst="chevron">
            <a:avLst>
              <a:gd name="adj" fmla="val 2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8075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통계 분석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1771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6635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대응 차이·신뢰구간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Holm, TOST</a:t>
            </a:r>
          </a:p>
        </p:txBody>
      </p:sp>
      <p:sp>
        <p:nvSpPr>
          <p:cNvPr id="43" name="Chevron 42"/>
          <p:cNvSpPr/>
          <p:nvPr/>
        </p:nvSpPr>
        <p:spPr>
          <a:xfrm>
            <a:off x="7287768" y="3246120"/>
            <a:ext cx="1481328" cy="475488"/>
          </a:xfrm>
          <a:prstGeom prst="chevron">
            <a:avLst>
              <a:gd name="adj" fmla="val 22000"/>
            </a:avLst>
          </a:prstGeom>
          <a:solidFill>
            <a:srgbClr val="14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246120"/>
            <a:ext cx="111556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재현성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24344" y="3794760"/>
            <a:ext cx="1298448" cy="768096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9208" y="3794760"/>
            <a:ext cx="1188720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설정·모델·결과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해시 기록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" y="4855464"/>
            <a:ext cx="2706624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4904" y="4855464"/>
            <a:ext cx="2706624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3" y="4855464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1D-CNN (주 분석 탐지기)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" y="5221224"/>
            <a:ext cx="2432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입력 11채널 × 128메시지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합성곱 3층 (64 → 128 → 128)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출력 5클래스 (정상과 공격 4종)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18688" y="4855464"/>
            <a:ext cx="2706624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18688" y="4855464"/>
            <a:ext cx="2706624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55848" y="4855464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Random Forest (비교 모델)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5221224"/>
            <a:ext cx="2432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채널별 요약 통계 55차원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결정 트리 160개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관계 특징을 추가한 83차원 확장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62472" y="4855464"/>
            <a:ext cx="2706624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62472" y="4855464"/>
            <a:ext cx="2706624" cy="365760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9632" y="4855464"/>
            <a:ext cx="243230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실험 자동화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7064" y="5221224"/>
            <a:ext cx="2432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실행 계획에 시드와 학습량 기록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지표와 그림 생성에 자동 검사 적용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저장된 결과에서 표와 그림 재생성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실험 결과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3.1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동일 학습량에서의 증강 효과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학습량을 맞춘 비교에서도 합성 증강 모델의 탐지율이 가장 높았다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실제 공격을 같은 수만큼 복제한 학습군보다 높아, 합성 표본의 내용이 탐지에 기여함을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8</a:t>
            </a:fld>
          </a:p>
        </p:txBody>
      </p:sp>
      <p:pic>
        <p:nvPicPr>
          <p:cNvPr id="19" name="Picture 18" descr="matc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350008"/>
            <a:ext cx="5669280" cy="301461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54041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1D-CNN · 학습 5회의 평균과 표준편차 · 세 학습군 모두 7,992회 갱신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2441448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5694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고정 변형 탐지율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862072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+50.25 %p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4290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49.75 %  →  99.99 %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4041648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169663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결합 변형 탐지율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462272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+16.90 %p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0292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55.10 %  →  72.00 %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971032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5852160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다섯 번의 학습 반복 모두 같은 방향의 차이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5971032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74920" y="5852160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원시 메시지가 겹치지 않는 평가에서도 이득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실험 결과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3.2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평가 단계별 결과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단계별 평가는 평균 점수에 가려진 성능 차이를 드러낸다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합성 증강 +30% CNN의 단계별 공격 탐지율과 유형 재현율 (학습 5회 평균)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9</a:t>
            </a:fld>
          </a:p>
        </p:txBody>
      </p:sp>
      <p:pic>
        <p:nvPicPr>
          <p:cNvPr id="19" name="Picture 18" descr="ladder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478024"/>
            <a:ext cx="4983480" cy="299008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559552" y="2441448"/>
            <a:ext cx="320954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59552" y="2441448"/>
            <a:ext cx="3209544" cy="36576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2441448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생성 규칙 밖 변형 (L4)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2807208"/>
            <a:ext cx="2926080" cy="12070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공격 탐지율 </a:t>
            </a: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99.8 %</a:t>
            </a: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 유지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유형 재현율은 </a:t>
            </a: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8.93 %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탐지와 식별의 격차 증가 +0.909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학습 5회 모두 같은 방향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9552" y="4178808"/>
            <a:ext cx="3209544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59552" y="4178808"/>
            <a:ext cx="3209544" cy="365760"/>
          </a:xfrm>
          <a:prstGeom prst="rect">
            <a:avLst/>
          </a:prstGeom>
          <a:solidFill>
            <a:srgbClr val="C9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96712" y="4178808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차량 데이터 (L5)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454456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OTIDS, ROAD, can-train-and-test 3종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탐지율과 함께 정상 오탐률도 </a:t>
            </a:r>
            <a:r>
              <a:rPr sz="115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약 100 %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점수 순위(AUROC)는 약 0.50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세 지표를 분리해 측정해야 증강 효과가 유지되는 범위를 판단할 수 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원인 분석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4.1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생성 요인 교차 실험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생성 요인을 교차한 실험에서 값의 위치가 가장 큰 영향을 보였다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세 요인을 2×2×2로 교차하고 새 생성 반복 4개에서 효과를 추정 (Holm 보정 p ≤ 0.039)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10</a:t>
            </a:fld>
          </a:p>
        </p:txBody>
      </p:sp>
      <p:pic>
        <p:nvPicPr>
          <p:cNvPr id="19" name="Picture 18" descr="facto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414016"/>
            <a:ext cx="4709160" cy="312342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303520" y="2441448"/>
            <a:ext cx="3465576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2441448"/>
            <a:ext cx="3465576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441448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교차한 세 가지 생성 요인</a:t>
            </a:r>
          </a:p>
        </p:txBody>
      </p:sp>
      <p:sp>
        <p:nvSpPr>
          <p:cNvPr id="23" name="Oval 22"/>
          <p:cNvSpPr/>
          <p:nvPr/>
        </p:nvSpPr>
        <p:spPr>
          <a:xfrm>
            <a:off x="5468112" y="2962656"/>
            <a:ext cx="347472" cy="34747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29626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907792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값의 위치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1546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공격 값이 놓이는 페이로드 바이트</a:t>
            </a:r>
          </a:p>
        </p:txBody>
      </p:sp>
      <p:sp>
        <p:nvSpPr>
          <p:cNvPr id="27" name="Oval 26"/>
          <p:cNvSpPr/>
          <p:nvPr/>
        </p:nvSpPr>
        <p:spPr>
          <a:xfrm>
            <a:off x="5468112" y="3493008"/>
            <a:ext cx="347472" cy="347472"/>
          </a:xfrm>
          <a:prstGeom prst="ellipse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8112" y="3493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438144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주입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850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입력 구간 안 공격 메시지의 배치</a:t>
            </a:r>
          </a:p>
        </p:txBody>
      </p:sp>
      <p:sp>
        <p:nvSpPr>
          <p:cNvPr id="31" name="Oval 30"/>
          <p:cNvSpPr/>
          <p:nvPr/>
        </p:nvSpPr>
        <p:spPr>
          <a:xfrm>
            <a:off x="5468112" y="4023359"/>
            <a:ext cx="347472" cy="347472"/>
          </a:xfrm>
          <a:prstGeom prst="ellipse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402335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968496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값 변화 규칙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215383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시간에 따른 값의 변화 양상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4681728"/>
            <a:ext cx="3465576" cy="822960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68112" y="4681728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P = −0.892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681728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95 % 신뢰구간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−0.943 ~ −0.842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위치에 대한 의존이 값 사이의 관계를 학습한 결과인지 대조 실험으로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원인 분석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4.2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맞춤 대조군 설계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값 사이의 관계만 다른 대조 자료로 생성 관계의 기여를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주입 위치와 개수, 바이트별 값 분포는 같게 두고 두 값의 대응만 재배열한 맞춤 대조군(Placebo)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11</a:t>
            </a:fld>
          </a:p>
        </p:txBody>
      </p:sp>
      <p:sp>
        <p:nvSpPr>
          <p:cNvPr id="19" name="Rectangle 18"/>
          <p:cNvSpPr/>
          <p:nvPr/>
        </p:nvSpPr>
        <p:spPr>
          <a:xfrm>
            <a:off x="374904" y="2395728"/>
            <a:ext cx="489204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2395728"/>
            <a:ext cx="4892040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3" y="239572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관계를 유지한 자료와 맞춤 대조 자료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28529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Rule 자료 (관계 유지)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1455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값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1455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값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64992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64992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72768" y="3364992"/>
            <a:ext cx="868680" cy="329184"/>
          </a:xfrm>
          <a:prstGeom prst="rect">
            <a:avLst/>
          </a:prstGeom>
          <a:solidFill>
            <a:srgbClr val="EAF1FA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364992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b₁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67328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67328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72768" y="3767328"/>
            <a:ext cx="868680" cy="329184"/>
          </a:xfrm>
          <a:prstGeom prst="rect">
            <a:avLst/>
          </a:prstGeom>
          <a:solidFill>
            <a:srgbClr val="EAF1FA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3767328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b₂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169664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169664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72768" y="4169664"/>
            <a:ext cx="868680" cy="329184"/>
          </a:xfrm>
          <a:prstGeom prst="rect">
            <a:avLst/>
          </a:prstGeom>
          <a:solidFill>
            <a:srgbClr val="EAF1FA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4169664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b₃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572000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2768" y="4572000"/>
            <a:ext cx="868680" cy="329184"/>
          </a:xfrm>
          <a:prstGeom prst="rect">
            <a:avLst/>
          </a:prstGeom>
          <a:solidFill>
            <a:srgbClr val="EAF1FA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4572000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b₄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28529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Placebo 자료 (관계 변경)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1455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값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1455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값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364992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9392" y="3364992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364992"/>
            <a:ext cx="868680" cy="329184"/>
          </a:xfrm>
          <a:prstGeom prst="rect">
            <a:avLst/>
          </a:prstGeom>
          <a:solidFill>
            <a:srgbClr val="FCF0E4"/>
          </a:solidFill>
          <a:ln w="11430">
            <a:solidFill>
              <a:srgbClr val="C9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3364992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b₃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767328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9392" y="3767328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767328"/>
            <a:ext cx="868680" cy="329184"/>
          </a:xfrm>
          <a:prstGeom prst="rect">
            <a:avLst/>
          </a:prstGeom>
          <a:solidFill>
            <a:srgbClr val="FCF0E4"/>
          </a:solidFill>
          <a:ln w="11430">
            <a:solidFill>
              <a:srgbClr val="C9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73552" y="3767328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b₁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169664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9392" y="4169664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4169664"/>
            <a:ext cx="868680" cy="329184"/>
          </a:xfrm>
          <a:prstGeom prst="rect">
            <a:avLst/>
          </a:prstGeom>
          <a:solidFill>
            <a:srgbClr val="FCF0E4"/>
          </a:solidFill>
          <a:ln w="11430">
            <a:solidFill>
              <a:srgbClr val="C9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3552" y="4169664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b₄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4572000"/>
            <a:ext cx="868680" cy="329184"/>
          </a:xfrm>
          <a:prstGeom prst="rect">
            <a:avLst/>
          </a:prstGeom>
          <a:solidFill>
            <a:srgbClr val="EDF1F6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9392" y="4572000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a₄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572000"/>
            <a:ext cx="868680" cy="329184"/>
          </a:xfrm>
          <a:prstGeom prst="rect">
            <a:avLst/>
          </a:prstGeom>
          <a:solidFill>
            <a:srgbClr val="FCF0E4"/>
          </a:solidFill>
          <a:ln w="11430">
            <a:solidFill>
              <a:srgbClr val="C96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73552" y="4572000"/>
            <a:ext cx="72237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C96F1E"/>
                </a:solidFill>
                <a:latin typeface="Noto Sans CJK KR"/>
                <a:ea typeface="Noto Sans CJK KR"/>
                <a:cs typeface="Noto Sans CJK KR"/>
              </a:rPr>
              <a:t>b₂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468880" y="3529584"/>
            <a:ext cx="704088" cy="402336"/>
          </a:xfrm>
          <a:prstGeom prst="line">
            <a:avLst/>
          </a:prstGeom>
          <a:ln w="13970">
            <a:solidFill>
              <a:srgbClr val="C96F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68880" y="3931920"/>
            <a:ext cx="704088" cy="804672"/>
          </a:xfrm>
          <a:prstGeom prst="line">
            <a:avLst/>
          </a:prstGeom>
          <a:ln w="13970">
            <a:solidFill>
              <a:srgbClr val="C96F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468880" y="3529584"/>
            <a:ext cx="704088" cy="804672"/>
          </a:xfrm>
          <a:prstGeom prst="line">
            <a:avLst/>
          </a:prstGeom>
          <a:ln w="13970">
            <a:solidFill>
              <a:srgbClr val="C96F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468880" y="4334256"/>
            <a:ext cx="704088" cy="402336"/>
          </a:xfrm>
          <a:prstGeom prst="line">
            <a:avLst/>
          </a:prstGeom>
          <a:ln w="13970">
            <a:solidFill>
              <a:srgbClr val="C96F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8640" y="506577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같은 정상 배경, 같은 주입 조건, 같은 값 분포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달라진 것은 두 값 사이의 대응 관계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68112" y="2395728"/>
            <a:ext cx="3300984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68112" y="2395728"/>
            <a:ext cx="3300984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05272" y="2395728"/>
            <a:ext cx="302666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같은 조건에서 두 모델을 평가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32704" y="290779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05856" y="2907792"/>
            <a:ext cx="127101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Rule 자료로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학습한 모델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87184" y="290779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9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60336" y="2907792"/>
            <a:ext cx="1271016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Placebo 자료로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학습한 모델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336792" y="3364992"/>
            <a:ext cx="0" cy="219456"/>
          </a:xfrm>
          <a:prstGeom prst="line">
            <a:avLst/>
          </a:prstGeom>
          <a:ln w="15240">
            <a:solidFill>
              <a:srgbClr val="5B6B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91272" y="3364992"/>
            <a:ext cx="0" cy="219456"/>
          </a:xfrm>
          <a:prstGeom prst="line">
            <a:avLst/>
          </a:prstGeom>
          <a:ln w="15240">
            <a:solidFill>
              <a:srgbClr val="5B6B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632704" y="3602736"/>
            <a:ext cx="2971800" cy="365760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05856" y="3602736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공통 평가: 관계 유지 조건 / 관계 변경 조건</a:t>
            </a:r>
          </a:p>
        </p:txBody>
      </p:sp>
      <p:sp>
        <p:nvSpPr>
          <p:cNvPr id="76" name="Oval 75"/>
          <p:cNvSpPr/>
          <p:nvPr/>
        </p:nvSpPr>
        <p:spPr>
          <a:xfrm>
            <a:off x="5632704" y="4224527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32704" y="4224527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4133087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관계 활용도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439826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관계를 바꿨을 때 나타나는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성능 변화의 두 모델 간 차이</a:t>
            </a:r>
          </a:p>
        </p:txBody>
      </p:sp>
      <p:sp>
        <p:nvSpPr>
          <p:cNvPr id="80" name="Oval 79"/>
          <p:cNvSpPr/>
          <p:nvPr/>
        </p:nvSpPr>
        <p:spPr>
          <a:xfrm>
            <a:off x="5632704" y="4974336"/>
            <a:ext cx="365760" cy="365760"/>
          </a:xfrm>
          <a:prstGeom prst="ellipse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32704" y="4974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U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88289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탐지 효용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5148072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관계가 유지된 평가에서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두 모델의 유형 재현율 차이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모델이 관계에 반응하는 정도와 관계가 성능에 기여하는 정도를 나누어 측정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원인 분석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4.3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관계 활용도와 탐지 효용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841247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모델의 관계 활용을 확인했고, 평가 절차는 유용한 관계의 효과를 검출했다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810512"/>
            <a:ext cx="7635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304" indent="-1463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5FA8"/>
              </a:buClr>
              <a:buChar char="•"/>
            </a:pPr>
            <a:r>
              <a:rPr sz="1250" b="0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새 생성 반복 100개, CNN 학습 1,000회 · 입력 구간의 공격 메시지가 8개인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12</a:t>
            </a:fld>
          </a:p>
        </p:txBody>
      </p:sp>
      <p:pic>
        <p:nvPicPr>
          <p:cNvPr id="19" name="Picture 18" descr="use_vs_ut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350008"/>
            <a:ext cx="4846320" cy="22777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6817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위치 이동 반응의 분해 (생성 반복 20개)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83480"/>
            <a:ext cx="4721595" cy="365760"/>
          </a:xfrm>
          <a:prstGeom prst="rect">
            <a:avLst/>
          </a:prstGeom>
          <a:solidFill>
            <a:srgbClr val="84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3075" y="4983480"/>
            <a:ext cx="33284" cy="36576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대조군에서도 재현된 성분  99.3 %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8581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전체 −0.8811  =  대조군 성분 −0.8752  +  관계에 따른 차이 −0.0059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8112" y="2395728"/>
            <a:ext cx="3300984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68112" y="2395728"/>
            <a:ext cx="3300984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272" y="2395728"/>
            <a:ext cx="3026664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양성 대조: 평가 절차의 검출력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4" y="2834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관계가 분류에 유용하도록 설계한 자료로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같은 절차를 적용해 효용이 회복되는지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32704" y="3557016"/>
            <a:ext cx="2971800" cy="713232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557016"/>
            <a:ext cx="132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1D-CNN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57016"/>
            <a:ext cx="1572768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+35.90 %p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32704" y="4361688"/>
            <a:ext cx="2971800" cy="713232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361688"/>
            <a:ext cx="132588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RF (관계 특징 추가)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61688"/>
            <a:ext cx="1572768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+35.70 %p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2704" y="5184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생성 반복 20개 모두에서 효용이 양수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관계 활용도 </a:t>
            </a:r>
            <a:r>
              <a:rPr sz="1300" b="1" lang="ko-KR">
                <a:solidFill>
                  <a:srgbClr val="53BBDF"/>
                </a:solidFill>
                <a:latin typeface="Noto Sans CJK KR"/>
                <a:ea typeface="Noto Sans CJK KR"/>
                <a:cs typeface="Noto Sans CJK KR"/>
              </a:rPr>
              <a:t>+2.64 %p</a:t>
            </a: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는 신뢰구간 전체가 0보다 큼 · 탐지 효용은 +0.11 %p로 별도 추정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5.1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연구 결과와 기여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530352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합성 증강의 성능 향상을 원인과 유지 범위까지 검증하는 평가 체계를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13</a:t>
            </a:fld>
          </a:p>
        </p:txBody>
      </p:sp>
      <p:sp>
        <p:nvSpPr>
          <p:cNvPr id="18" name="Rectangle 17"/>
          <p:cNvSpPr/>
          <p:nvPr/>
        </p:nvSpPr>
        <p:spPr>
          <a:xfrm>
            <a:off x="374904" y="2084831"/>
            <a:ext cx="839419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4" y="2084831"/>
            <a:ext cx="749808" cy="804672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084831"/>
            <a:ext cx="749808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2194560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Shift Ladder 평가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2505456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L0 – L6 단계와 데이터 역할 분리로 학습 도메인, 공격 변형, 외부 환경의 평가를 하나의 절차로 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" y="2999232"/>
            <a:ext cx="839419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4" y="2999232"/>
            <a:ext cx="749808" cy="804672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999232"/>
            <a:ext cx="749808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3108960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공정한 조건에서 증강 효과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419856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같은 갱신 횟수와 공격 복제 대조에서 고정 변형 +50.25 %p, 결합 변형 +16.90 %p의 탐지 이득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" y="3913631"/>
            <a:ext cx="839419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4" y="3913631"/>
            <a:ext cx="749808" cy="804672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13631"/>
            <a:ext cx="749808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4023359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평가 지표의 분리 기준 제시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334255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공격 탐지율, 유형 재현율, 정상 오탐률을 나누어 측정해 증강 효과가 유지되는 범위를 단계별로 규명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" y="4828031"/>
            <a:ext cx="839419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4" y="4828031"/>
            <a:ext cx="749808" cy="804672"/>
          </a:xfrm>
          <a:prstGeom prst="rect">
            <a:avLst/>
          </a:prstGeom>
          <a:solidFill>
            <a:srgbClr val="1A2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4828031"/>
            <a:ext cx="749808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4937759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생성 요소의 기여 분해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" y="5248655"/>
            <a:ext cx="726948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2F3E52"/>
                </a:solidFill>
                <a:latin typeface="Noto Sans CJK KR"/>
                <a:ea typeface="Noto Sans CJK KR"/>
                <a:cs typeface="Noto Sans CJK KR"/>
              </a:rPr>
              <a:t>요인 교차와 맞춤 대조군으로 관계 활용도(+2.64 %p)와 탐지 효용을 구분하고 양성 대조로 절차를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" y="5852160"/>
            <a:ext cx="8394192" cy="475488"/>
          </a:xfrm>
          <a:prstGeom prst="rect">
            <a:avLst/>
          </a:prstGeom>
          <a:solidFill>
            <a:srgbClr val="1A2C5B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합성 데이터로 얻은 성능 향상의 원인과 적용 범위를 대조 실험으로 검증하는 절차 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43891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09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grpSp>
        <p:nvGrpSpPr>
          <p:cNvPr id="4" name="그룹 1">
            <a:extLst>
              <a:ext uri="{FF2B5EF4-FFF2-40B4-BE49-F238E27FC236}">
                <a16:creationId xmlns:a16="http://schemas.microsoft.com/office/drawing/2014/main" id="{726E0BCC-9717-705D-5B3B-DFF0B6B52930}"/>
              </a:ext>
            </a:extLst>
          </p:cNvPr>
          <p:cNvGrpSpPr/>
          <p:nvPr/>
        </p:nvGrpSpPr>
        <p:grpSpPr>
          <a:xfrm>
            <a:off x="166998" y="801095"/>
            <a:ext cx="8805749" cy="361652"/>
            <a:chOff x="166998" y="966566"/>
            <a:chExt cx="8805749" cy="36165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EA028A7-1ED5-F60E-5E38-31B3268A2E06}"/>
                </a:ext>
              </a:extLst>
            </p:cNvPr>
            <p:cNvSpPr/>
            <p:nvPr/>
          </p:nvSpPr>
          <p:spPr>
            <a:xfrm>
              <a:off x="171253" y="966566"/>
              <a:ext cx="556229" cy="360000"/>
            </a:xfrm>
            <a:prstGeom prst="roundRect">
              <a:avLst/>
            </a:prstGeom>
            <a:solidFill>
              <a:srgbClr val="53BB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6">
              <a:extLst>
                <a:ext uri="{FF2B5EF4-FFF2-40B4-BE49-F238E27FC236}">
                  <a16:creationId xmlns:a16="http://schemas.microsoft.com/office/drawing/2014/main" id="{659CAE1F-B53E-512D-30E3-D85F484996E2}"/>
                </a:ext>
              </a:extLst>
            </p:cNvPr>
            <p:cNvSpPr/>
            <p:nvPr/>
          </p:nvSpPr>
          <p:spPr>
            <a:xfrm>
              <a:off x="792700" y="966566"/>
              <a:ext cx="8180047" cy="361652"/>
            </a:xfrm>
            <a:prstGeom prst="roundRect">
              <a:avLst/>
            </a:prstGeom>
            <a:solidFill>
              <a:srgbClr val="0F26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AB6369DD-D942-C947-2CBC-0B3F2786E52D}"/>
                </a:ext>
              </a:extLst>
            </p:cNvPr>
            <p:cNvSpPr txBox="1"/>
            <p:nvPr/>
          </p:nvSpPr>
          <p:spPr>
            <a:xfrm>
              <a:off x="166998" y="982293"/>
              <a:ext cx="540588" cy="323165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5.2</a:t>
              </a:r>
              <a:endParaRPr lang="ko-KR" altLang="en-US" sz="1500" b="1" spc="100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2B18CE0E-9BE1-50CA-ABCF-4A61B710C8D7}"/>
                </a:ext>
              </a:extLst>
            </p:cNvPr>
            <p:cNvSpPr txBox="1"/>
            <p:nvPr/>
          </p:nvSpPr>
          <p:spPr>
            <a:xfrm>
              <a:off x="1025586" y="979854"/>
              <a:ext cx="7754112" cy="338554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ko-KR">
                  <a:solidFill>
                    <a:srgbClr val="FFFFFF"/>
                  </a:solidFill>
                  <a:latin typeface="Noto Sans CJK KR"/>
                  <a:ea typeface="Noto Sans CJK KR"/>
                  <a:cs typeface="Noto Sans CJK KR"/>
                </a:rPr>
                <a:t>산출물 및 학술 성과</a:t>
              </a:r>
              <a:endParaRPr lang="ko-KR" altLang="en-US" sz="1600" b="1" dirty="0">
                <a:solidFill>
                  <a:schemeClr val="bg1"/>
                </a:solidFill>
                <a:latin typeface="나눔스퀘어 ExtraBold"/>
                <a:ea typeface="NanumSquareOTF Bold" panose="020B0600000101010101" pitchFamily="34" charset="-127"/>
              </a:endParaRPr>
            </a:p>
          </p:txBody>
        </p:sp>
        <p:grpSp>
          <p:nvGrpSpPr>
            <p:cNvPr id="9" name="그룹 23">
              <a:extLst>
                <a:ext uri="{FF2B5EF4-FFF2-40B4-BE49-F238E27FC236}">
                  <a16:creationId xmlns:a16="http://schemas.microsoft.com/office/drawing/2014/main" id="{3FBCB069-174C-D457-8B17-66C7CB3FD389}"/>
                </a:ext>
              </a:extLst>
            </p:cNvPr>
            <p:cNvGrpSpPr/>
            <p:nvPr/>
          </p:nvGrpSpPr>
          <p:grpSpPr>
            <a:xfrm>
              <a:off x="607392" y="1008326"/>
              <a:ext cx="352976" cy="280280"/>
              <a:chOff x="2126290" y="4779167"/>
              <a:chExt cx="352976" cy="280280"/>
            </a:xfrm>
          </p:grpSpPr>
          <p:sp>
            <p:nvSpPr>
              <p:cNvPr id="10" name="타원 24">
                <a:extLst>
                  <a:ext uri="{FF2B5EF4-FFF2-40B4-BE49-F238E27FC236}">
                    <a16:creationId xmlns:a16="http://schemas.microsoft.com/office/drawing/2014/main" id="{BC903192-C398-CD04-7EC3-A42B99EEB5A3}"/>
                  </a:ext>
                </a:extLst>
              </p:cNvPr>
              <p:cNvSpPr/>
              <p:nvPr/>
            </p:nvSpPr>
            <p:spPr>
              <a:xfrm>
                <a:off x="2149938" y="4779167"/>
                <a:ext cx="280280" cy="2802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25">
                <a:extLst>
                  <a:ext uri="{FF2B5EF4-FFF2-40B4-BE49-F238E27FC236}">
                    <a16:creationId xmlns:a16="http://schemas.microsoft.com/office/drawing/2014/main" id="{AFE8A183-9673-BC04-82D0-0315105CFF5F}"/>
                  </a:ext>
                </a:extLst>
              </p:cNvPr>
              <p:cNvSpPr txBox="1"/>
              <p:nvPr/>
            </p:nvSpPr>
            <p:spPr>
              <a:xfrm>
                <a:off x="2126290" y="4804743"/>
                <a:ext cx="352976" cy="246221"/>
              </a:xfrm>
              <a:prstGeom prst="rect">
                <a:avLst/>
              </a:prstGeom>
              <a:noFill/>
            </p:spPr>
            <p:txBody>
              <a:bodyPr wrap="none" rtlCol="0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lang="ko-KR">
                    <a:solidFill>
                      <a:srgbClr val="0F2645"/>
                    </a:solidFill>
                    <a:latin typeface="Noto Sans CJK KR"/>
                    <a:ea typeface="Noto Sans CJK KR"/>
                    <a:cs typeface="Noto Sans CJK KR"/>
                  </a:rPr>
                  <a:t>▶</a:t>
                </a:r>
              </a:p>
            </p:txBody>
          </p:sp>
        </p:grpSp>
      </p:grpSp>
      <p:sp>
        <p:nvSpPr>
          <p:cNvPr id="12" name="직사각형 4">
            <a:extLst>
              <a:ext uri="{FF2B5EF4-FFF2-40B4-BE49-F238E27FC236}">
                <a16:creationId xmlns:a16="http://schemas.microsoft.com/office/drawing/2014/main" id="{7F6CD4CE-50E6-6C03-7CD1-45F86A306BCA}"/>
              </a:ext>
            </a:extLst>
          </p:cNvPr>
          <p:cNvSpPr/>
          <p:nvPr/>
        </p:nvSpPr>
        <p:spPr>
          <a:xfrm>
            <a:off x="374904" y="1325880"/>
            <a:ext cx="8394192" cy="530352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normalizeH="0" baseline="0" noProof="0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ExtraBold"/>
              <a:ea typeface="KoPubWorld돋움체 Medium" panose="00000600000000000000" pitchFamily="2" charset="-127"/>
            </a:endParaRPr>
          </a:p>
        </p:txBody>
      </p:sp>
      <p:grpSp>
        <p:nvGrpSpPr>
          <p:cNvPr id="13" name="그룹 6">
            <a:extLst>
              <a:ext uri="{FF2B5EF4-FFF2-40B4-BE49-F238E27FC236}">
                <a16:creationId xmlns:a16="http://schemas.microsoft.com/office/drawing/2014/main" id="{D1E4EFBB-8D20-5439-5C3C-D70C29EA043F}"/>
              </a:ext>
            </a:extLst>
          </p:cNvPr>
          <p:cNvGrpSpPr/>
          <p:nvPr/>
        </p:nvGrpSpPr>
        <p:grpSpPr>
          <a:xfrm>
            <a:off x="621792" y="1499616"/>
            <a:ext cx="182880" cy="182880"/>
            <a:chOff x="485277" y="1804782"/>
            <a:chExt cx="188716" cy="18871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2639E66-38DE-FE28-AA30-99CAF935E358}"/>
                </a:ext>
              </a:extLst>
            </p:cNvPr>
            <p:cNvSpPr/>
            <p:nvPr/>
          </p:nvSpPr>
          <p:spPr bwMode="auto">
            <a:xfrm rot="16200000">
              <a:off x="485277" y="1804782"/>
              <a:ext cx="188716" cy="188716"/>
            </a:xfrm>
            <a:prstGeom prst="ellipse">
              <a:avLst/>
            </a:prstGeom>
            <a:solidFill>
              <a:srgbClr val="5683D3"/>
            </a:solidFill>
            <a:ln w="158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  <p:sp>
          <p:nvSpPr>
            <p:cNvPr id="15" name="자유형: 도형 630">
              <a:extLst>
                <a:ext uri="{FF2B5EF4-FFF2-40B4-BE49-F238E27FC236}">
                  <a16:creationId xmlns:a16="http://schemas.microsoft.com/office/drawing/2014/main" id="{09BDAECC-450E-D961-9B5C-DE50F6378D5E}"/>
                </a:ext>
              </a:extLst>
            </p:cNvPr>
            <p:cNvSpPr/>
            <p:nvPr/>
          </p:nvSpPr>
          <p:spPr bwMode="auto">
            <a:xfrm rot="2700000">
              <a:off x="538028" y="1870866"/>
              <a:ext cx="52239" cy="56549"/>
            </a:xfrm>
            <a:custGeom>
              <a:avLst/>
              <a:gdLst>
                <a:gd name="connsiteX0" fmla="*/ 0 w 160020"/>
                <a:gd name="connsiteY0" fmla="*/ 0 h 114300"/>
                <a:gd name="connsiteX1" fmla="*/ 160020 w 160020"/>
                <a:gd name="connsiteY1" fmla="*/ 0 h 114300"/>
                <a:gd name="connsiteX2" fmla="*/ 160020 w 160020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" h="114300">
                  <a:moveTo>
                    <a:pt x="0" y="0"/>
                  </a:moveTo>
                  <a:lnTo>
                    <a:pt x="160020" y="0"/>
                  </a:lnTo>
                  <a:lnTo>
                    <a:pt x="160020" y="114300"/>
                  </a:lnTo>
                </a:path>
              </a:pathLst>
            </a:custGeom>
            <a:noFill/>
            <a:ln w="19050" cap="rnd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46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normalizeH="0" baseline="0" noProof="0" dirty="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14400" y="1417320"/>
            <a:ext cx="768096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ko-KR">
                <a:solidFill>
                  <a:srgbClr val="002060"/>
                </a:solidFill>
                <a:latin typeface="Noto Sans CJK KR"/>
                <a:ea typeface="Noto Sans CJK KR"/>
                <a:cs typeface="Noto Sans CJK KR"/>
              </a:rPr>
              <a:t>평가 시스템을 모듈별 산출물로 구현하고 연구 결과를 학술 논문으로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660654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fld id="{B6F15528-21DE-4FAA-801E-634DDDAF4B2B}" type="slidenum">
              <a:rPr lang="ko-KR" sz="1000">
                <a:solidFill>
                  <a:srgbClr val="5B6B7E"/>
                </a:solidFill>
                <a:latin typeface="Noto Sans CJK KR"/>
                <a:ea typeface="Noto Sans CJK KR"/>
              </a:rPr>
              <a:t>14</a:t>
            </a:fld>
          </a:p>
        </p:txBody>
      </p:sp>
      <p:sp>
        <p:nvSpPr>
          <p:cNvPr id="18" name="Rectangle 17"/>
          <p:cNvSpPr/>
          <p:nvPr/>
        </p:nvSpPr>
        <p:spPr>
          <a:xfrm>
            <a:off x="374904" y="2084831"/>
            <a:ext cx="4114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4" y="2084831"/>
            <a:ext cx="4114800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3" y="208483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학술 성과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" y="2615184"/>
            <a:ext cx="3785615" cy="1691640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2743200"/>
            <a:ext cx="1737360" cy="310896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2743200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WISA 2026 · Oral 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27248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The Shift Ladder: Locating the Gains and Failures of Rule-Based Synthetic CAN Attack Augmentation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95344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Shift Ladder 평가 체계와 동일 학습량 대조 결과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" y="4443983"/>
            <a:ext cx="3785615" cy="1627632"/>
          </a:xfrm>
          <a:prstGeom prst="rect">
            <a:avLst/>
          </a:prstGeom>
          <a:solidFill>
            <a:srgbClr val="F6F8FB"/>
          </a:solidFill>
          <a:ln w="11430">
            <a:solidFill>
              <a:srgbClr val="D3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572000"/>
            <a:ext cx="2834640" cy="310896"/>
          </a:xfrm>
          <a:prstGeom prst="roundRect">
            <a:avLst>
              <a:gd name="adj" fmla="val 20000"/>
            </a:avLst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572000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Vehicular Communications 투고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74336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요인 교차 실험, 맞춤 대조군,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관계 활용도와 탐지 효용 분석으로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14416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후속 연구 결과를 저널 원고로 정리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54296" y="2084831"/>
            <a:ext cx="4114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5400000" algn="t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4296" y="2084831"/>
            <a:ext cx="4114800" cy="365760"/>
          </a:xfrm>
          <a:prstGeom prst="rect">
            <a:avLst/>
          </a:prstGeom>
          <a:solidFill>
            <a:srgbClr val="0F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208483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시스템 산출물</a:t>
            </a:r>
          </a:p>
        </p:txBody>
      </p:sp>
      <p:sp>
        <p:nvSpPr>
          <p:cNvPr id="34" name="Oval 33"/>
          <p:cNvSpPr/>
          <p:nvPr/>
        </p:nvSpPr>
        <p:spPr>
          <a:xfrm>
            <a:off x="4818888" y="2679192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26791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2606040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데이터 처리 모듈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2852928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시간 구간 분할과 공통 11채널 입력 구성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18888" y="3154680"/>
            <a:ext cx="3785616" cy="0"/>
          </a:xfrm>
          <a:prstGeom prst="line">
            <a:avLst/>
          </a:prstGeom>
          <a:ln w="889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818888" y="3278124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8888" y="32781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204972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규칙 기반 생성기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345186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공격 유형 4종의 합성 자료와 맞춤 대조군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18888" y="3753612"/>
            <a:ext cx="3785616" cy="0"/>
          </a:xfrm>
          <a:prstGeom prst="line">
            <a:avLst/>
          </a:prstGeom>
          <a:ln w="889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818888" y="3877056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38770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3803904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탐지기 학습 모듈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050792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CNN, RF 학습과 동일 학습량 비교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18888" y="4352544"/>
            <a:ext cx="3785616" cy="0"/>
          </a:xfrm>
          <a:prstGeom prst="line">
            <a:avLst/>
          </a:prstGeom>
          <a:ln w="889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818888" y="4475988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18888" y="44759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402836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Shift Ladder 평가기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4649724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L0 – L6 단계별 결과표와 운영점 산출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818888" y="4951476"/>
            <a:ext cx="3785616" cy="0"/>
          </a:xfrm>
          <a:prstGeom prst="line">
            <a:avLst/>
          </a:prstGeom>
          <a:ln w="889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818888" y="5074920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18888" y="5074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5001768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요인·관계 분석기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5248656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요인 효과, 관계 활용도와 효용 추정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818888" y="5550408"/>
            <a:ext cx="3785616" cy="0"/>
          </a:xfrm>
          <a:prstGeom prst="line">
            <a:avLst/>
          </a:prstGeom>
          <a:ln w="8890">
            <a:solidFill>
              <a:srgbClr val="D3DB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818888" y="5673852"/>
            <a:ext cx="310896" cy="3108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18888" y="56738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5600700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확장 검증 자료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5847588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B6B7E"/>
                </a:solidFill>
                <a:latin typeface="Noto Sans CJK KR"/>
                <a:ea typeface="Noto Sans CJK KR"/>
                <a:cs typeface="Noto Sans CJK KR"/>
              </a:rPr>
              <a:t>양성 대조와 새 생성 반복 100개의 재현 결과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89" y="215673"/>
            <a:ext cx="803861" cy="64690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91" y="333641"/>
            <a:ext cx="600823" cy="8655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4000"/>
            <a:ext cx="9144000" cy="248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554" y="3684693"/>
            <a:ext cx="2760218" cy="2760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214884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>
                <a:solidFill>
                  <a:srgbClr val="1B2A41"/>
                </a:solidFill>
                <a:latin typeface="Noto Sans CJK KR"/>
                <a:ea typeface="Noto Sans CJK KR"/>
                <a:cs typeface="Noto Sans CJK KR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1F5FA8"/>
                </a:solidFill>
                <a:latin typeface="Noto Sans CJK KR"/>
                <a:ea typeface="Noto Sans CJK KR"/>
                <a:cs typeface="Noto Sans CJK KR"/>
              </a:rPr>
              <a:t>46 · InfoSec  |  장현진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1_Office 테마">
  <a:themeElements>
    <a:clrScheme name="사용자 지정 634">
      <a:dk1>
        <a:sysClr val="windowText" lastClr="000000"/>
      </a:dk1>
      <a:lt1>
        <a:sysClr val="window" lastClr="FFFFFF"/>
      </a:lt1>
      <a:dk2>
        <a:srgbClr val="01243F"/>
      </a:dk2>
      <a:lt2>
        <a:srgbClr val="BDDCF5"/>
      </a:lt2>
      <a:accent1>
        <a:srgbClr val="2ABBDF"/>
      </a:accent1>
      <a:accent2>
        <a:srgbClr val="69D2DD"/>
      </a:accent2>
      <a:accent3>
        <a:srgbClr val="7E87D8"/>
      </a:accent3>
      <a:accent4>
        <a:srgbClr val="2D8ADF"/>
      </a:accent4>
      <a:accent5>
        <a:srgbClr val="075A95"/>
      </a:accent5>
      <a:accent6>
        <a:srgbClr val="21327B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5690</TotalTime>
  <Words>8271</Words>
  <Application>Microsoft Office PowerPoint</Application>
  <PresentationFormat>화면 슬라이드 쇼(4:3)</PresentationFormat>
  <Paragraphs>1567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20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77" baseType="lpstr">
      <vt:lpstr>G마켓 산스 Bold</vt:lpstr>
      <vt:lpstr>KoPubWorld돋움체 Bold</vt:lpstr>
      <vt:lpstr>Noto Sans Display</vt:lpstr>
      <vt:lpstr>NanumSquare Bold</vt:lpstr>
      <vt:lpstr>NanumSquare Bold</vt:lpstr>
      <vt:lpstr>NanumSquare ExtraBold</vt:lpstr>
      <vt:lpstr>NanumSquare ExtraBold</vt:lpstr>
      <vt:lpstr>NanumSquareOTF Bold</vt:lpstr>
      <vt:lpstr>페이퍼로지 5 Medium</vt:lpstr>
      <vt:lpstr>페이퍼로지 6 SemiBold</vt:lpstr>
      <vt:lpstr>Paperlogy 8 ExtraBold</vt:lpstr>
      <vt:lpstr>Arial</vt:lpstr>
      <vt:lpstr>Calibri</vt:lpstr>
      <vt:lpstr>Consolas</vt:lpstr>
      <vt:lpstr>Courier New</vt:lpstr>
      <vt:lpstr>Noto Sans</vt:lpstr>
      <vt:lpstr>Wingdings</vt:lpstr>
      <vt:lpstr>나눔고딕 ExtraBold</vt:lpstr>
      <vt:lpstr>나눔고딕 ExtraBold</vt:lpstr>
      <vt:lpstr>맑은 고딕</vt:lpstr>
      <vt:lpstr>1_1_Office 테마</vt:lpstr>
      <vt:lpstr>PowerPoint 프레젠테이션</vt:lpstr>
      <vt:lpstr>PowerPoint 프레젠테이션</vt:lpstr>
      <vt:lpstr>Motivation and Foundation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Core Concept &amp; Tech Stack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합성 CAN 공격 데이터 증강의 신뢰성 검증을 위한 단계적 평가 프레임워크 설계 및 구현</dc:title>
  <dc:creator>장현진 | InfoSec</dc:creator>
  <cp:lastModifiedBy>조재한(Jaehan)</cp:lastModifiedBy>
  <cp:revision>2149</cp:revision>
  <cp:lastPrinted>2026-05-11T05:15:31Z</cp:lastPrinted>
  <dcterms:created xsi:type="dcterms:W3CDTF">2019-12-18T11:01:44Z</dcterms:created>
  <dcterms:modified xsi:type="dcterms:W3CDTF">2026-05-12T00:31:22Z</dcterms:modified>
  <cp:version/>
  <dc:subject>2026 전기 졸업과제 발표</dc:subject>
</cp:coreProperties>
</file>